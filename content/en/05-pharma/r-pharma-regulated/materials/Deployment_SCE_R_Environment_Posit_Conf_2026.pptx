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8" r:id="rId12"/>
    <p:sldId id="26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668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7.png"/><Relationship Id="rId7" Type="http://schemas.openxmlformats.org/officeDocument/2006/relationships/image" Target="../media/image60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59.png"/><Relationship Id="rId10" Type="http://schemas.openxmlformats.org/officeDocument/2006/relationships/image" Target="../media/image63.png"/><Relationship Id="rId4" Type="http://schemas.openxmlformats.org/officeDocument/2006/relationships/image" Target="../media/image58.png"/><Relationship Id="rId9" Type="http://schemas.openxmlformats.org/officeDocument/2006/relationships/image" Target="../media/image6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5.png"/><Relationship Id="rId7" Type="http://schemas.openxmlformats.org/officeDocument/2006/relationships/image" Target="../media/image31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Relationship Id="rId9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00050" y="6219825"/>
            <a:ext cx="11391900" cy="238125"/>
          </a:xfrm>
          <a:prstGeom prst="roundRect">
            <a:avLst/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197750" y="2526506"/>
            <a:ext cx="3594199" cy="1900237"/>
          </a:xfrm>
          <a:prstGeom prst="roundRect">
            <a:avLst>
              <a:gd name="adj" fmla="val 802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786836" y="400050"/>
            <a:ext cx="1787276" cy="209550"/>
          </a:xfrm>
          <a:prstGeom prst="roundRect">
            <a:avLst>
              <a:gd name="adj" fmla="val 18181"/>
            </a:avLst>
          </a:prstGeom>
          <a:solidFill>
            <a:srgbClr val="FEF3C7"/>
          </a:solidFill>
          <a:ln w="9525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650313" y="400050"/>
            <a:ext cx="1238547" cy="209550"/>
          </a:xfrm>
          <a:prstGeom prst="roundRect">
            <a:avLst>
              <a:gd name="adj" fmla="val 18181"/>
            </a:avLst>
          </a:prstGeom>
          <a:solidFill>
            <a:srgbClr val="E0F2FE"/>
          </a:solidFill>
          <a:ln w="952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965060" y="400050"/>
            <a:ext cx="826889" cy="209550"/>
          </a:xfrm>
          <a:prstGeom prst="roundRect">
            <a:avLst>
              <a:gd name="adj" fmla="val 18181"/>
            </a:avLst>
          </a:prstGeom>
          <a:solidFill>
            <a:srgbClr val="D1FAE5"/>
          </a:solidFill>
          <a:ln w="9525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00050" y="2381250"/>
            <a:ext cx="3509664" cy="247650"/>
          </a:xfrm>
          <a:prstGeom prst="roundRect">
            <a:avLst>
              <a:gd name="adj" fmla="val 5000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0050" y="6305550"/>
            <a:ext cx="301808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64748B"/>
                </a:solidFill>
                <a:latin typeface="ui-monospace"/>
              </a:rPr>
              <a:t>SYSTEM.ENG // REPRODUCIBILITY_MATRIX //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00171" y="6305550"/>
            <a:ext cx="891778" cy="145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 dirty="0">
                <a:solidFill>
                  <a:srgbClr val="64748B"/>
                </a:solidFill>
                <a:latin typeface="ui-monospace"/>
              </a:rPr>
              <a:t>SLIDE 01 / </a:t>
            </a:r>
            <a:r>
              <a:rPr lang="en-US" sz="900" b="0" i="0" u="none" dirty="0">
                <a:solidFill>
                  <a:srgbClr val="64748B"/>
                </a:solidFill>
                <a:latin typeface="ui-monospace"/>
              </a:rPr>
              <a:t>12</a:t>
            </a:r>
            <a:endParaRPr sz="900" b="0" i="0" u="none" dirty="0">
              <a:solidFill>
                <a:srgbClr val="64748B"/>
              </a:solidFill>
              <a:latin typeface="ui-monospace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47750" y="428625"/>
            <a:ext cx="26065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64748B"/>
                </a:solidFill>
                <a:latin typeface="ui-monospace"/>
              </a:rPr>
              <a:t>VALIDATED_PLATFORMS // WORKSHOP_SERIES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86836" y="400050"/>
            <a:ext cx="1787276" cy="209550"/>
          </a:xfrm>
          <a:prstGeom prst="roundRect">
            <a:avLst>
              <a:gd name="adj" fmla="val 18181"/>
            </a:avLst>
          </a:prstGeom>
          <a:solidFill>
            <a:srgbClr val="FEF3C7"/>
          </a:solidFill>
          <a:ln w="9525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82086" y="419100"/>
            <a:ext cx="1596776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78350F"/>
                </a:solidFill>
                <a:latin typeface="ui-monospace"/>
              </a:rPr>
              <a:t>&gt; SOLUTIONS_ENGINEERING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50313" y="400050"/>
            <a:ext cx="1238547" cy="209550"/>
          </a:xfrm>
          <a:prstGeom prst="roundRect">
            <a:avLst>
              <a:gd name="adj" fmla="val 18181"/>
            </a:avLst>
          </a:prstGeom>
          <a:solidFill>
            <a:srgbClr val="E0F2FE"/>
          </a:solidFill>
          <a:ln w="952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745563" y="419100"/>
            <a:ext cx="1048047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0C4A6E"/>
                </a:solidFill>
                <a:latin typeface="ui-monospace"/>
              </a:rPr>
              <a:t>REPRODUCIBILITY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65060" y="400050"/>
            <a:ext cx="826889" cy="209550"/>
          </a:xfrm>
          <a:prstGeom prst="roundRect">
            <a:avLst>
              <a:gd name="adj" fmla="val 18181"/>
            </a:avLst>
          </a:prstGeom>
          <a:solidFill>
            <a:srgbClr val="D1FAE5"/>
          </a:solidFill>
          <a:ln w="9525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060310" y="419100"/>
            <a:ext cx="636389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064E3B"/>
                </a:solidFill>
                <a:latin typeface="ui-monospace"/>
              </a:rPr>
              <a:t>GxP_READY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050" y="2781300"/>
            <a:ext cx="7867545" cy="1131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600" b="1" i="0" u="none" dirty="0">
                <a:solidFill>
                  <a:srgbClr val="0F172A"/>
                </a:solidFill>
                <a:latin typeface="ui-sans-serif"/>
              </a:rPr>
              <a:t>R </a:t>
            </a:r>
            <a:r>
              <a:rPr lang="en-US" sz="3600" b="1" dirty="0">
                <a:solidFill>
                  <a:srgbClr val="0F172A"/>
                </a:solidFill>
                <a:latin typeface="ui-sans-serif"/>
              </a:rPr>
              <a:t>Environment </a:t>
            </a:r>
            <a:r>
              <a:rPr lang="en-US" sz="3600" b="1" i="0" u="none" dirty="0">
                <a:solidFill>
                  <a:srgbClr val="0F172A"/>
                </a:solidFill>
                <a:latin typeface="ui-sans-serif"/>
              </a:rPr>
              <a:t>Deployment: </a:t>
            </a:r>
            <a:r>
              <a:rPr sz="3600" b="1" i="0" u="none" dirty="0">
                <a:solidFill>
                  <a:srgbClr val="0F172A"/>
                </a:solidFill>
                <a:latin typeface="ui-sans-serif"/>
              </a:rPr>
              <a:t>Platform Qualification </a:t>
            </a:r>
            <a:r>
              <a:rPr sz="3600" b="1" i="0" u="none" dirty="0">
                <a:solidFill>
                  <a:srgbClr val="0284C7"/>
                </a:solidFill>
                <a:latin typeface="ui-sans-serif"/>
              </a:rPr>
              <a:t>&amp;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0050" y="4076700"/>
            <a:ext cx="640080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200" b="0" i="0" u="none" dirty="0">
                <a:solidFill>
                  <a:srgbClr val="475569"/>
                </a:solidFill>
                <a:latin typeface="ui-sans-serif"/>
              </a:rPr>
              <a:t>A practical guide to reproducibility, containers, automated orchestration, and evidence-driven platform validation.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510" y="2447925"/>
            <a:ext cx="131884" cy="1143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435875" y="2764631"/>
            <a:ext cx="3117949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1" i="0" u="none">
                <a:solidFill>
                  <a:srgbClr val="94A3B8"/>
                </a:solidFill>
                <a:latin typeface="ui-monospace"/>
              </a:rPr>
              <a:t>WORKSHOP AGENDA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5875" y="2921793"/>
            <a:ext cx="3117949" cy="444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0F172A"/>
                </a:solidFill>
                <a:latin typeface="ui-sans-serif"/>
              </a:rPr>
              <a:t>Engineering Workshop</a:t>
            </a:r>
            <a:r>
              <a:rPr lang="en-US" sz="1200" b="1" i="0" u="none" dirty="0">
                <a:solidFill>
                  <a:srgbClr val="0F172A"/>
                </a:solidFill>
                <a:latin typeface="ui-sans-serif"/>
              </a:rPr>
              <a:t> by Satish Mur</a:t>
            </a:r>
            <a:r>
              <a:rPr lang="en-US" sz="1200" b="1" dirty="0">
                <a:solidFill>
                  <a:srgbClr val="0F172A"/>
                </a:solidFill>
                <a:latin typeface="ui-sans-serif"/>
              </a:rPr>
              <a:t>t</a:t>
            </a:r>
            <a:r>
              <a:rPr lang="en-US" sz="1200" b="1" i="0" u="none" dirty="0">
                <a:solidFill>
                  <a:srgbClr val="0F172A"/>
                </a:solidFill>
                <a:latin typeface="ui-sans-serif"/>
              </a:rPr>
              <a:t>hy and Casey Johson</a:t>
            </a:r>
            <a:endParaRPr sz="1200" b="1" i="0" u="none" dirty="0">
              <a:solidFill>
                <a:srgbClr val="0F172A"/>
              </a:solidFill>
              <a:latin typeface="ui-sans-serif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435875" y="3579018"/>
            <a:ext cx="617339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475569"/>
                </a:solidFill>
                <a:latin typeface="ui-monospace"/>
              </a:rPr>
              <a:t>Boundary: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93437" y="3579018"/>
            <a:ext cx="96038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1E293B"/>
                </a:solidFill>
                <a:latin typeface="ui-monospace"/>
              </a:rPr>
              <a:t>IT vs. Quality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5875" y="3807618"/>
            <a:ext cx="685948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475569"/>
                </a:solidFill>
                <a:latin typeface="ui-monospace"/>
              </a:rPr>
              <a:t>Toolchain: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59568" y="3731418"/>
            <a:ext cx="1294256" cy="145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 dirty="0">
                <a:solidFill>
                  <a:srgbClr val="1E293B"/>
                </a:solidFill>
                <a:latin typeface="ui-monospace"/>
              </a:rPr>
              <a:t>Containers + </a:t>
            </a:r>
            <a:r>
              <a:rPr sz="900" b="1" i="0" u="none" dirty="0" err="1">
                <a:solidFill>
                  <a:srgbClr val="1E293B"/>
                </a:solidFill>
                <a:latin typeface="ui-monospace"/>
              </a:rPr>
              <a:t>renv</a:t>
            </a:r>
            <a:r>
              <a:rPr lang="en-US" sz="900" b="1" i="0" u="none" dirty="0">
                <a:solidFill>
                  <a:srgbClr val="1E293B"/>
                </a:solidFill>
                <a:latin typeface="ui-monospace"/>
              </a:rPr>
              <a:t> + more</a:t>
            </a:r>
            <a:endParaRPr sz="900" b="1" i="0" u="none" dirty="0">
              <a:solidFill>
                <a:srgbClr val="1E293B"/>
              </a:solidFill>
              <a:latin typeface="ui-monospace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435875" y="4036218"/>
            <a:ext cx="823168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475569"/>
                </a:solidFill>
                <a:latin typeface="ui-monospace"/>
              </a:rPr>
              <a:t>Deliverable: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13317" y="4036218"/>
            <a:ext cx="144050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059669"/>
                </a:solidFill>
                <a:latin typeface="ui-monospace"/>
              </a:rPr>
              <a:t>Audit Evidence Binder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" y="3117056"/>
            <a:ext cx="3371850" cy="242887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0075" y="3117056"/>
            <a:ext cx="3371850" cy="2428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8175" y="3117056"/>
            <a:ext cx="3371850" cy="2428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4402931"/>
            <a:ext cx="3371850" cy="24288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0075" y="4402931"/>
            <a:ext cx="3371850" cy="24288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8175" y="4402931"/>
            <a:ext cx="3371850" cy="24288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0050" y="6219825"/>
            <a:ext cx="11391900" cy="238125"/>
          </a:xfrm>
          <a:prstGeom prst="roundRect">
            <a:avLst/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72452" y="419100"/>
            <a:ext cx="1219497" cy="228600"/>
          </a:xfrm>
          <a:prstGeom prst="roundRect">
            <a:avLst>
              <a:gd name="adj" fmla="val 16666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00050" y="2202656"/>
            <a:ext cx="3695700" cy="1319212"/>
          </a:xfrm>
          <a:prstGeom prst="roundRect">
            <a:avLst>
              <a:gd name="adj" fmla="val 86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248150" y="2202656"/>
            <a:ext cx="3695700" cy="1319212"/>
          </a:xfrm>
          <a:prstGeom prst="roundRect">
            <a:avLst>
              <a:gd name="adj" fmla="val 86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096250" y="2202656"/>
            <a:ext cx="3695700" cy="1319212"/>
          </a:xfrm>
          <a:prstGeom prst="roundRect">
            <a:avLst>
              <a:gd name="adj" fmla="val 86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00050" y="3674268"/>
            <a:ext cx="3695700" cy="1133475"/>
          </a:xfrm>
          <a:prstGeom prst="roundRect">
            <a:avLst>
              <a:gd name="adj" fmla="val 100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248150" y="3674268"/>
            <a:ext cx="3695700" cy="1133475"/>
          </a:xfrm>
          <a:prstGeom prst="roundRect">
            <a:avLst>
              <a:gd name="adj" fmla="val 100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96250" y="3674268"/>
            <a:ext cx="3695700" cy="1133475"/>
          </a:xfrm>
          <a:prstGeom prst="roundRect">
            <a:avLst>
              <a:gd name="adj" fmla="val 100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61975" y="2364581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410075" y="2364581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258175" y="2364581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61975" y="3836193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410075" y="3836193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258175" y="3836193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572452" y="419100"/>
            <a:ext cx="1219497" cy="228600"/>
          </a:xfrm>
          <a:prstGeom prst="roundRect">
            <a:avLst>
              <a:gd name="adj" fmla="val 16666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667702" y="457200"/>
            <a:ext cx="102899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334155"/>
                </a:solidFill>
                <a:latin typeface="ui-monospace"/>
              </a:rPr>
              <a:t>AGENDA_OVERVIEW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0050" y="6305550"/>
            <a:ext cx="3223914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64748B"/>
                </a:solidFill>
                <a:latin typeface="ui-monospace"/>
              </a:rPr>
              <a:t>Platform Engineering Workshop // Scope Overview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00171" y="6305550"/>
            <a:ext cx="891778" cy="145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 dirty="0">
                <a:solidFill>
                  <a:srgbClr val="64748B"/>
                </a:solidFill>
                <a:latin typeface="ui-monospace"/>
              </a:rPr>
              <a:t>SLIDE 02 / </a:t>
            </a:r>
            <a:r>
              <a:rPr lang="en-US" sz="900" dirty="0">
                <a:solidFill>
                  <a:srgbClr val="64748B"/>
                </a:solidFill>
                <a:latin typeface="ui-monospace"/>
              </a:rPr>
              <a:t>12</a:t>
            </a:r>
            <a:endParaRPr sz="900" b="0" i="0" u="none" dirty="0">
              <a:solidFill>
                <a:srgbClr val="64748B"/>
              </a:solidFill>
              <a:latin typeface="ui-monospace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03969" y="400050"/>
            <a:ext cx="192945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1" i="0" u="none">
                <a:solidFill>
                  <a:srgbClr val="0F172A"/>
                </a:solidFill>
                <a:latin typeface="ui-sans-serif"/>
              </a:rPr>
              <a:t>What We'll Cover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1975" y="2669381"/>
            <a:ext cx="3371850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400" b="0" i="0" u="none" dirty="0">
                <a:solidFill>
                  <a:srgbClr val="475569"/>
                </a:solidFill>
                <a:latin typeface="ui-sans-serif"/>
              </a:rPr>
              <a:t>Where IT's responsibility ends and platform validation begins.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10075" y="2669381"/>
            <a:ext cx="3371850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400" b="0" i="0" u="none" dirty="0">
                <a:solidFill>
                  <a:srgbClr val="475569"/>
                </a:solidFill>
                <a:latin typeface="ui-sans-serif"/>
              </a:rPr>
              <a:t>Containers, </a:t>
            </a:r>
            <a:r>
              <a:rPr sz="1400" b="0" i="0" u="none" dirty="0" err="1">
                <a:solidFill>
                  <a:srgbClr val="475569"/>
                </a:solidFill>
                <a:latin typeface="ui-sans-serif"/>
              </a:rPr>
              <a:t>renv</a:t>
            </a:r>
            <a:r>
              <a:rPr sz="1400" b="0" i="0" u="none" dirty="0">
                <a:solidFill>
                  <a:srgbClr val="475569"/>
                </a:solidFill>
                <a:latin typeface="ui-sans-serif"/>
              </a:rPr>
              <a:t>, and package manager snapshots.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8175" y="2669381"/>
            <a:ext cx="3371850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400" b="0" i="0" u="none" dirty="0">
                <a:solidFill>
                  <a:srgbClr val="475569"/>
                </a:solidFill>
                <a:latin typeface="ui-sans-serif"/>
              </a:rPr>
              <a:t>CI/CD, automated tests, and vulnerability scanning.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1975" y="4140993"/>
            <a:ext cx="337185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400" b="0" i="0" u="none" dirty="0">
                <a:solidFill>
                  <a:srgbClr val="475569"/>
                </a:solidFill>
                <a:latin typeface="ui-sans-serif"/>
              </a:rPr>
              <a:t>Kubernetes, EKS, and local container runtimes.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10075" y="4140993"/>
            <a:ext cx="337185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400" b="0" i="0" u="none" dirty="0">
                <a:solidFill>
                  <a:srgbClr val="475569"/>
                </a:solidFill>
                <a:latin typeface="ui-sans-serif"/>
              </a:rPr>
              <a:t>What the quality team actually looks for.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8175" y="4140993"/>
            <a:ext cx="337185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400" b="0" i="0" u="none" dirty="0">
                <a:solidFill>
                  <a:srgbClr val="475569"/>
                </a:solidFill>
                <a:latin typeface="ui-sans-serif"/>
              </a:rPr>
              <a:t>Cloud credits and free proof-of-concept paths.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1975" y="2364581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61975" y="2364581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ts val="1200"/>
              </a:lnSpc>
            </a:pPr>
            <a:r>
              <a:rPr sz="900" b="1" i="0" u="none">
                <a:solidFill>
                  <a:srgbClr val="0369A1"/>
                </a:solidFill>
                <a:latin typeface="ui-monospace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6775" y="2383631"/>
            <a:ext cx="1534566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0F172A"/>
                </a:solidFill>
                <a:latin typeface="ui-sans-serif"/>
              </a:rPr>
              <a:t>Qualify vs. Validate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10075" y="2364581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410075" y="2364581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ts val="1200"/>
              </a:lnSpc>
            </a:pPr>
            <a:r>
              <a:rPr sz="900" b="1" i="0" u="none">
                <a:solidFill>
                  <a:srgbClr val="047857"/>
                </a:solidFill>
                <a:latin typeface="ui-monospace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14875" y="2383631"/>
            <a:ext cx="1201712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0F172A"/>
                </a:solidFill>
                <a:latin typeface="ui-sans-serif"/>
              </a:rPr>
              <a:t>Reproducibility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58175" y="2364581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58175" y="2364581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ts val="1200"/>
              </a:lnSpc>
            </a:pPr>
            <a:r>
              <a:rPr sz="900" b="1" i="0" u="none">
                <a:solidFill>
                  <a:srgbClr val="7E22CE"/>
                </a:solidFill>
                <a:latin typeface="ui-monospace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62975" y="2383631"/>
            <a:ext cx="922459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0F172A"/>
                </a:solidFill>
                <a:latin typeface="ui-sans-serif"/>
              </a:rPr>
              <a:t>Automation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1975" y="3836193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61975" y="3836193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ts val="1200"/>
              </a:lnSpc>
            </a:pPr>
            <a:r>
              <a:rPr sz="900" b="1" i="0" u="none">
                <a:solidFill>
                  <a:srgbClr val="B45309"/>
                </a:solidFill>
                <a:latin typeface="ui-monospace"/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6775" y="3855243"/>
            <a:ext cx="1090448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0F172A"/>
                </a:solidFill>
                <a:latin typeface="ui-sans-serif"/>
              </a:rPr>
              <a:t>Orchestration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410075" y="3836193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410075" y="3836193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ts val="1200"/>
              </a:lnSpc>
            </a:pPr>
            <a:r>
              <a:rPr sz="900" b="1" i="0" u="none">
                <a:solidFill>
                  <a:srgbClr val="1D4ED8"/>
                </a:solidFill>
                <a:latin typeface="ui-monospace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14875" y="3855243"/>
            <a:ext cx="707744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0F172A"/>
                </a:solidFill>
                <a:latin typeface="ui-sans-serif"/>
              </a:rPr>
              <a:t>Evidence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58175" y="3836193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258175" y="3836193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ts val="1200"/>
              </a:lnSpc>
            </a:pPr>
            <a:r>
              <a:rPr sz="900" b="1" i="0" u="none">
                <a:solidFill>
                  <a:srgbClr val="BE123C"/>
                </a:solidFill>
                <a:latin typeface="ui-monospace"/>
              </a:rPr>
              <a:t>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62975" y="3855243"/>
            <a:ext cx="1233904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0F172A"/>
                </a:solidFill>
                <a:latin typeface="ui-sans-serif"/>
              </a:rPr>
              <a:t>Getting Started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" y="3776662"/>
            <a:ext cx="4972050" cy="2762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3776662"/>
            <a:ext cx="4972050" cy="27622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00050" y="5781675"/>
            <a:ext cx="11391900" cy="438150"/>
          </a:xfrm>
          <a:prstGeom prst="roundRect">
            <a:avLst>
              <a:gd name="adj" fmla="val 26086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00050" y="6219825"/>
            <a:ext cx="11391900" cy="238125"/>
          </a:xfrm>
          <a:prstGeom prst="roundRect">
            <a:avLst/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004673" y="409575"/>
            <a:ext cx="1787276" cy="247650"/>
          </a:xfrm>
          <a:prstGeom prst="roundRect">
            <a:avLst>
              <a:gd name="adj" fmla="val 15384"/>
            </a:avLst>
          </a:prstGeom>
          <a:solidFill>
            <a:srgbClr val="F3E8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90524" y="2294762"/>
            <a:ext cx="5581650" cy="2009775"/>
          </a:xfrm>
          <a:prstGeom prst="roundRect">
            <a:avLst>
              <a:gd name="adj" fmla="val 568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40498" y="2281237"/>
            <a:ext cx="5581650" cy="2009775"/>
          </a:xfrm>
          <a:prstGeom prst="roundRect">
            <a:avLst>
              <a:gd name="adj" fmla="val 568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04345" y="2557462"/>
            <a:ext cx="739229" cy="1905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265866" y="2557462"/>
            <a:ext cx="1287958" cy="190500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004673" y="409575"/>
            <a:ext cx="1787276" cy="247650"/>
          </a:xfrm>
          <a:prstGeom prst="roundRect">
            <a:avLst>
              <a:gd name="adj" fmla="val 15384"/>
            </a:avLst>
          </a:prstGeom>
          <a:solidFill>
            <a:srgbClr val="F3E8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99923" y="447675"/>
            <a:ext cx="1596776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6B21A8"/>
                </a:solidFill>
                <a:latin typeface="ui-monospace"/>
              </a:rPr>
              <a:t>RESPONSIBILITY_BOUNDARY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2925" y="5924550"/>
            <a:ext cx="3806874" cy="152400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0C4A6E"/>
                </a:solidFill>
                <a:latin typeface="ui-monospace"/>
              </a:rPr>
              <a:t>KEY QUESTION: How do we validate the total platform?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08567" y="5924550"/>
            <a:ext cx="144050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0369A1"/>
                </a:solidFill>
                <a:latin typeface="ui-monospace"/>
              </a:rPr>
              <a:t>SHARED_ACCOUNTABILITY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0050" y="6305550"/>
            <a:ext cx="3909714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64748B"/>
                </a:solidFill>
                <a:latin typeface="ui-monospace"/>
              </a:rPr>
              <a:t>Platform Engineering Workshop // Organizational Alignment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00171" y="6305550"/>
            <a:ext cx="891778" cy="145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 dirty="0">
                <a:solidFill>
                  <a:srgbClr val="64748B"/>
                </a:solidFill>
                <a:latin typeface="ui-monospace"/>
              </a:rPr>
              <a:t>SLIDE 03 / </a:t>
            </a:r>
            <a:r>
              <a:rPr lang="en-US" sz="900" dirty="0">
                <a:solidFill>
                  <a:srgbClr val="64748B"/>
                </a:solidFill>
                <a:latin typeface="ui-monospace"/>
              </a:rPr>
              <a:t>12</a:t>
            </a:r>
            <a:endParaRPr sz="900" b="0" i="0" u="none" dirty="0">
              <a:solidFill>
                <a:srgbClr val="64748B"/>
              </a:solidFill>
              <a:latin typeface="ui-monospace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03969" y="400050"/>
            <a:ext cx="336557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1" i="0" u="none">
                <a:solidFill>
                  <a:srgbClr val="0F172A"/>
                </a:solidFill>
                <a:latin typeface="ui-sans-serif"/>
              </a:rPr>
              <a:t>Qualification is Not Validation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5934075"/>
            <a:ext cx="114300" cy="1143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38175" y="2519362"/>
            <a:ext cx="1287348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350" b="1" i="0" u="none">
                <a:solidFill>
                  <a:srgbClr val="0F172A"/>
                </a:solidFill>
                <a:latin typeface="ui-sans-serif"/>
              </a:rPr>
              <a:t>Qualification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04345" y="2557462"/>
            <a:ext cx="739229" cy="1905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99595" y="2576512"/>
            <a:ext cx="548729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075985"/>
                </a:solidFill>
                <a:latin typeface="ui-monospace"/>
              </a:rPr>
              <a:t>IT_OWNED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8425" y="2519362"/>
            <a:ext cx="102434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350" b="1" i="0" u="none">
                <a:solidFill>
                  <a:srgbClr val="0F172A"/>
                </a:solidFill>
                <a:latin typeface="ui-sans-serif"/>
              </a:rPr>
              <a:t>Validation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65866" y="2557462"/>
            <a:ext cx="1287958" cy="190500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361116" y="2576512"/>
            <a:ext cx="1097458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065F46"/>
                </a:solidFill>
                <a:latin typeface="ui-monospace"/>
              </a:rPr>
              <a:t>SHARED_OWNERSHIP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175" y="2938462"/>
            <a:ext cx="73074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0284C7"/>
                </a:solidFill>
                <a:latin typeface="ui-sans-serif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499" y="2981719"/>
            <a:ext cx="1964133" cy="1560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 dirty="0">
                <a:solidFill>
                  <a:srgbClr val="334155"/>
                </a:solidFill>
                <a:latin typeface="ui-sans-serif"/>
              </a:rPr>
              <a:t>Owned by 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175" y="3205162"/>
            <a:ext cx="73074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0284C7"/>
                </a:solidFill>
                <a:latin typeface="ui-sans-serif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6499" y="3223512"/>
            <a:ext cx="4293096" cy="1628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400" b="0" i="0" u="none" dirty="0">
                <a:solidFill>
                  <a:srgbClr val="334155"/>
                </a:solidFill>
                <a:latin typeface="ui-sans-serif"/>
              </a:rPr>
              <a:t>Confirms infrastructure and systems behave as specified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175" y="3471862"/>
            <a:ext cx="73074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0284C7"/>
                </a:solidFill>
                <a:latin typeface="ui-sans-serif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6499" y="3471862"/>
            <a:ext cx="3314253" cy="31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400" b="0" i="0" u="none" dirty="0">
                <a:solidFill>
                  <a:srgbClr val="334155"/>
                </a:solidFill>
                <a:latin typeface="ui-sans-serif"/>
              </a:rPr>
              <a:t>IT can only qualify — it cannot sign off the whole platform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8425" y="2938462"/>
            <a:ext cx="73074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059669"/>
                </a:solidFill>
                <a:latin typeface="ui-sans-serif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16749" y="2938462"/>
            <a:ext cx="2501949" cy="31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400" b="0" i="0" u="none" dirty="0">
                <a:solidFill>
                  <a:srgbClr val="334155"/>
                </a:solidFill>
                <a:latin typeface="ui-sans-serif"/>
              </a:rPr>
              <a:t>Covers the total platform, not a single layer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33947" y="3277558"/>
            <a:ext cx="73074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 dirty="0">
                <a:solidFill>
                  <a:srgbClr val="059669"/>
                </a:solidFill>
                <a:latin typeface="ui-sans-serif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16749" y="3268257"/>
            <a:ext cx="3028057" cy="31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400" b="0" i="0" u="none" dirty="0">
                <a:solidFill>
                  <a:srgbClr val="334155"/>
                </a:solidFill>
                <a:latin typeface="ui-sans-serif"/>
              </a:rPr>
              <a:t>Shared responsibility across IT, business, and quality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33947" y="3586162"/>
            <a:ext cx="73074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 dirty="0">
                <a:solidFill>
                  <a:srgbClr val="059669"/>
                </a:solidFill>
                <a:latin typeface="ui-sans-serif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16749" y="3600377"/>
            <a:ext cx="2413843" cy="31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400" b="0" i="0" u="none" dirty="0">
                <a:solidFill>
                  <a:srgbClr val="334155"/>
                </a:solidFill>
                <a:latin typeface="ui-sans-serif"/>
              </a:rPr>
              <a:t>Evidence-driven and repeatable over 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5819775"/>
            <a:ext cx="11391900" cy="4000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75" y="4181475"/>
            <a:ext cx="4213175" cy="40005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00050" y="6219825"/>
            <a:ext cx="11391900" cy="238125"/>
          </a:xfrm>
          <a:prstGeom prst="roundRect">
            <a:avLst/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622012" y="409575"/>
            <a:ext cx="1169937" cy="247650"/>
          </a:xfrm>
          <a:prstGeom prst="roundRect">
            <a:avLst>
              <a:gd name="adj" fmla="val 15384"/>
            </a:avLst>
          </a:prstGeom>
          <a:solidFill>
            <a:srgbClr val="FEF3C7"/>
          </a:solidFill>
          <a:ln w="9525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00050" y="1828800"/>
            <a:ext cx="4613225" cy="295275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241875" y="1828800"/>
            <a:ext cx="6549925" cy="295275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41900" y="2257425"/>
            <a:ext cx="6149875" cy="68580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41900" y="3057525"/>
            <a:ext cx="6149875" cy="68580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441900" y="3857625"/>
            <a:ext cx="6149875" cy="533400"/>
          </a:xfrm>
          <a:prstGeom prst="roundRect">
            <a:avLst>
              <a:gd name="adj" fmla="val 14285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622012" y="409575"/>
            <a:ext cx="1169937" cy="247650"/>
          </a:xfrm>
          <a:prstGeom prst="roundRect">
            <a:avLst>
              <a:gd name="adj" fmla="val 15384"/>
            </a:avLst>
          </a:prstGeom>
          <a:solidFill>
            <a:srgbClr val="FEF3C7"/>
          </a:solidFill>
          <a:ln w="9525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17262" y="447675"/>
            <a:ext cx="979437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92400E"/>
                </a:solidFill>
                <a:latin typeface="ui-monospace"/>
              </a:rPr>
              <a:t>CORE_CHALLENGE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0050" y="6305550"/>
            <a:ext cx="4184153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64748B"/>
                </a:solidFill>
                <a:latin typeface="ui-monospace"/>
              </a:rPr>
              <a:t>Platform Engineering Workshop // Reproducibility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00171" y="6305550"/>
            <a:ext cx="891778" cy="145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 dirty="0">
                <a:solidFill>
                  <a:srgbClr val="64748B"/>
                </a:solidFill>
                <a:latin typeface="ui-monospace"/>
              </a:rPr>
              <a:t>SLIDE 04 / </a:t>
            </a:r>
            <a:r>
              <a:rPr lang="en-US" sz="900" dirty="0">
                <a:solidFill>
                  <a:srgbClr val="64748B"/>
                </a:solidFill>
                <a:latin typeface="ui-monospace"/>
              </a:rPr>
              <a:t>12</a:t>
            </a:r>
            <a:endParaRPr sz="900" b="0" i="0" u="none" dirty="0">
              <a:solidFill>
                <a:srgbClr val="64748B"/>
              </a:solidFill>
              <a:latin typeface="ui-monospace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03969" y="400050"/>
            <a:ext cx="302615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1" i="0" u="none">
                <a:solidFill>
                  <a:srgbClr val="0F172A"/>
                </a:solidFill>
                <a:latin typeface="ui-sans-serif"/>
              </a:rPr>
              <a:t>The Reproducibility Hurdle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1900" y="2028825"/>
            <a:ext cx="6149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94A3B8"/>
                </a:solidFill>
                <a:latin typeface="ui-monospace"/>
              </a:rPr>
              <a:t>THE TECHNICAL REMEDY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1900" y="4429125"/>
            <a:ext cx="6149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ui-monospace"/>
              </a:rPr>
              <a:t>// DETERMINISTIC_RESOLUTION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0075" y="2028825"/>
            <a:ext cx="42131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94A3B8"/>
                </a:solidFill>
                <a:latin typeface="ui-monospace"/>
              </a:rPr>
              <a:t>CORE REALITY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075" y="2257425"/>
            <a:ext cx="4423834" cy="21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00" b="1" dirty="0">
                <a:solidFill>
                  <a:srgbClr val="0F172A"/>
                </a:solidFill>
                <a:latin typeface="ui-sans-serif"/>
              </a:rPr>
              <a:t>S</a:t>
            </a:r>
            <a:r>
              <a:rPr sz="1200" b="1" i="0" u="none" dirty="0">
                <a:solidFill>
                  <a:srgbClr val="0F172A"/>
                </a:solidFill>
                <a:latin typeface="ui-sans-serif"/>
              </a:rPr>
              <a:t>erver Divergence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0075" y="2600325"/>
            <a:ext cx="4213175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sz="1400" b="0" i="0" u="none" dirty="0">
                <a:solidFill>
                  <a:srgbClr val="475569"/>
                </a:solidFill>
                <a:latin typeface="ui-sans-serif"/>
              </a:rPr>
              <a:t>S</a:t>
            </a:r>
            <a:r>
              <a:rPr sz="1400" b="0" i="0" u="none" dirty="0">
                <a:solidFill>
                  <a:srgbClr val="475569"/>
                </a:solidFill>
                <a:latin typeface="ui-sans-serif"/>
              </a:rPr>
              <a:t>ervers create real hurdles for reproducibility — cloud or on-prem, the issue is the same.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075" y="3086100"/>
            <a:ext cx="4213175" cy="3772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200" b="0" i="0" u="none" dirty="0">
                <a:solidFill>
                  <a:srgbClr val="475569"/>
                </a:solidFill>
                <a:latin typeface="ui-sans-serif"/>
              </a:rPr>
              <a:t>Repeatability and reproducibility must be demonstrable, not assumed.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46675" y="2362200"/>
            <a:ext cx="5940325" cy="1628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400" b="1" i="0" u="none" dirty="0">
                <a:solidFill>
                  <a:srgbClr val="0F172A"/>
                </a:solidFill>
                <a:latin typeface="ui-sans-serif"/>
              </a:rPr>
              <a:t>Containers Make This Easier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46675" y="3162300"/>
            <a:ext cx="5940325" cy="1628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400" b="1" i="0" u="none" dirty="0">
                <a:solidFill>
                  <a:srgbClr val="0F172A"/>
                </a:solidFill>
                <a:latin typeface="ui-sans-serif"/>
              </a:rPr>
              <a:t>“</a:t>
            </a:r>
            <a:r>
              <a:rPr sz="1400" b="1" i="0" u="none" dirty="0" err="1">
                <a:solidFill>
                  <a:srgbClr val="0F172A"/>
                </a:solidFill>
                <a:latin typeface="ui-sans-serif"/>
              </a:rPr>
              <a:t>renv</a:t>
            </a:r>
            <a:r>
              <a:rPr sz="1400" b="1" i="0" u="none" dirty="0">
                <a:solidFill>
                  <a:srgbClr val="0F172A"/>
                </a:solidFill>
                <a:latin typeface="ui-sans-serif"/>
              </a:rPr>
              <a:t>” is Your Friend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46675" y="3962400"/>
            <a:ext cx="5940325" cy="1628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400" b="1" i="0" u="none" dirty="0">
                <a:solidFill>
                  <a:srgbClr val="0F172A"/>
                </a:solidFill>
                <a:latin typeface="ui-sans-serif"/>
              </a:rPr>
              <a:t>Package Manager Snapshots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" y="3117056"/>
            <a:ext cx="3371850" cy="242887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0075" y="3117056"/>
            <a:ext cx="3371850" cy="2428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8175" y="3117056"/>
            <a:ext cx="3371850" cy="2428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4364831"/>
            <a:ext cx="3371850" cy="24288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0075" y="4364831"/>
            <a:ext cx="3371850" cy="24288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8175" y="4364831"/>
            <a:ext cx="3371850" cy="24288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0050" y="6219825"/>
            <a:ext cx="11391900" cy="238125"/>
          </a:xfrm>
          <a:prstGeom prst="roundRect">
            <a:avLst/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53402" y="409575"/>
            <a:ext cx="1238547" cy="247650"/>
          </a:xfrm>
          <a:prstGeom prst="roundRect">
            <a:avLst>
              <a:gd name="adj" fmla="val 15384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00050" y="2240756"/>
            <a:ext cx="3695700" cy="1281112"/>
          </a:xfrm>
          <a:prstGeom prst="roundRect">
            <a:avLst>
              <a:gd name="adj" fmla="val 89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248150" y="2240756"/>
            <a:ext cx="3695700" cy="1281112"/>
          </a:xfrm>
          <a:prstGeom prst="roundRect">
            <a:avLst>
              <a:gd name="adj" fmla="val 89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096250" y="2240756"/>
            <a:ext cx="3695700" cy="1281112"/>
          </a:xfrm>
          <a:prstGeom prst="roundRect">
            <a:avLst>
              <a:gd name="adj" fmla="val 89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00050" y="3674268"/>
            <a:ext cx="3695700" cy="1095375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248150" y="3674268"/>
            <a:ext cx="3695700" cy="1095375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96250" y="3674268"/>
            <a:ext cx="3695700" cy="1095375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553402" y="409575"/>
            <a:ext cx="1238547" cy="247650"/>
          </a:xfrm>
          <a:prstGeom prst="roundRect">
            <a:avLst>
              <a:gd name="adj" fmla="val 15384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48652" y="447675"/>
            <a:ext cx="1048047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075985"/>
                </a:solidFill>
                <a:latin typeface="ui-monospace"/>
              </a:rPr>
              <a:t>TOOLCHAIN_STACK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050" y="6305550"/>
            <a:ext cx="349820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64748B"/>
                </a:solidFill>
                <a:latin typeface="ui-monospace"/>
              </a:rPr>
              <a:t>Platform Engineering Workshop // Modular Components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00171" y="6305550"/>
            <a:ext cx="891778" cy="145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 dirty="0">
                <a:solidFill>
                  <a:srgbClr val="64748B"/>
                </a:solidFill>
                <a:latin typeface="ui-monospace"/>
              </a:rPr>
              <a:t>SLIDE 05 / </a:t>
            </a:r>
            <a:r>
              <a:rPr lang="en-US" sz="900" dirty="0">
                <a:solidFill>
                  <a:srgbClr val="64748B"/>
                </a:solidFill>
                <a:latin typeface="ui-monospace"/>
              </a:rPr>
              <a:t>12</a:t>
            </a:r>
            <a:endParaRPr sz="900" b="0" i="0" u="none" dirty="0">
              <a:solidFill>
                <a:srgbClr val="64748B"/>
              </a:solidFill>
              <a:latin typeface="ui-monospace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03969" y="400050"/>
            <a:ext cx="333057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1" i="0" u="none">
                <a:solidFill>
                  <a:srgbClr val="0F172A"/>
                </a:solidFill>
                <a:latin typeface="ui-sans-serif"/>
              </a:rPr>
              <a:t>The Reproducibility Toolchain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1975" y="2669381"/>
            <a:ext cx="3371850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400" b="0" i="0" u="none" dirty="0">
                <a:solidFill>
                  <a:srgbClr val="475569"/>
                </a:solidFill>
                <a:latin typeface="ui-sans-serif"/>
              </a:rPr>
              <a:t>R version–specific images with a pinned package set.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0075" y="2669381"/>
            <a:ext cx="3371850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400" b="0" i="0" u="none" dirty="0">
                <a:solidFill>
                  <a:srgbClr val="475569"/>
                </a:solidFill>
                <a:latin typeface="ui-sans-serif"/>
              </a:rPr>
              <a:t>Project-level </a:t>
            </a:r>
            <a:r>
              <a:rPr sz="1400" b="0" i="0" u="none" dirty="0" err="1">
                <a:solidFill>
                  <a:srgbClr val="475569"/>
                </a:solidFill>
                <a:latin typeface="ui-sans-serif"/>
              </a:rPr>
              <a:t>lockfile</a:t>
            </a:r>
            <a:r>
              <a:rPr sz="1400" b="0" i="0" u="none" dirty="0">
                <a:solidFill>
                  <a:srgbClr val="475569"/>
                </a:solidFill>
                <a:latin typeface="ui-sans-serif"/>
              </a:rPr>
              <a:t> that pins every package version.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8175" y="2669381"/>
            <a:ext cx="337185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00" b="0" i="0" u="none" dirty="0">
                <a:solidFill>
                  <a:srgbClr val="475569"/>
                </a:solidFill>
                <a:latin typeface="ui-sans-serif"/>
              </a:rPr>
              <a:t>Dated snapshots </a:t>
            </a:r>
            <a:r>
              <a:rPr sz="1400" b="0" i="0" u="none" dirty="0">
                <a:solidFill>
                  <a:srgbClr val="475569"/>
                </a:solidFill>
                <a:latin typeface="ui-sans-serif"/>
              </a:rPr>
              <a:t>so</a:t>
            </a:r>
            <a:r>
              <a:rPr sz="900" b="0" i="0" u="none" dirty="0">
                <a:solidFill>
                  <a:srgbClr val="475569"/>
                </a:solidFill>
                <a:latin typeface="ui-sans-serif"/>
              </a:rPr>
              <a:t> dependency resolution repeats exactly.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1975" y="4102893"/>
            <a:ext cx="3371850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400" b="0" i="0" u="none" dirty="0">
                <a:solidFill>
                  <a:srgbClr val="475569"/>
                </a:solidFill>
                <a:latin typeface="ui-sans-serif"/>
              </a:rPr>
              <a:t>Automated builds and tests — makes your life easier.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0075" y="4102893"/>
            <a:ext cx="3371850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400" b="0" i="0" u="none" dirty="0">
                <a:solidFill>
                  <a:srgbClr val="475569"/>
                </a:solidFill>
                <a:latin typeface="ui-sans-serif"/>
              </a:rPr>
              <a:t>Run on every build; results are a function of time.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8175" y="4102893"/>
            <a:ext cx="3371850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400" b="0" i="0" u="none" dirty="0">
                <a:solidFill>
                  <a:srgbClr val="475569"/>
                </a:solidFill>
                <a:latin typeface="ui-sans-serif"/>
              </a:rPr>
              <a:t>Definitions live in the repo permanently, ready to rebuild.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4696" y="2402681"/>
            <a:ext cx="108857" cy="1905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52475" y="2402681"/>
            <a:ext cx="855106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0F172A"/>
                </a:solidFill>
                <a:latin typeface="ui-sans-serif"/>
              </a:rPr>
              <a:t>Containers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10075" y="2406253"/>
            <a:ext cx="104775" cy="18335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591050" y="2402681"/>
            <a:ext cx="355044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0F172A"/>
                </a:solidFill>
                <a:latin typeface="ui-sans-serif"/>
              </a:rPr>
              <a:t>renv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58175" y="2405612"/>
            <a:ext cx="114300" cy="18463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448675" y="2402681"/>
            <a:ext cx="14001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0F172A"/>
                </a:solidFill>
                <a:latin typeface="ui-sans-serif"/>
              </a:rPr>
              <a:t>Package Manager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6057" y="3836193"/>
            <a:ext cx="163285" cy="1905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09625" y="3836193"/>
            <a:ext cx="425053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0F172A"/>
                </a:solidFill>
                <a:latin typeface="ui-sans-serif"/>
              </a:rPr>
              <a:t>CI/CD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10075" y="3838098"/>
            <a:ext cx="133350" cy="18669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619625" y="3836193"/>
            <a:ext cx="1521752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0F172A"/>
                </a:solidFill>
                <a:latin typeface="ui-sans-serif"/>
              </a:rPr>
              <a:t>Vulnerability Scans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58175" y="3839124"/>
            <a:ext cx="114300" cy="18463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448675" y="3836193"/>
            <a:ext cx="854012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0F172A"/>
                </a:solidFill>
                <a:latin typeface="ui-sans-serif"/>
              </a:rPr>
              <a:t>Repository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5095875"/>
            <a:ext cx="11182998" cy="633412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75" y="3929062"/>
            <a:ext cx="3270200" cy="2428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0825" y="3929062"/>
            <a:ext cx="3270200" cy="2428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575" y="3929062"/>
            <a:ext cx="3270349" cy="24288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00050" y="828675"/>
            <a:ext cx="11391900" cy="438150"/>
          </a:xfrm>
          <a:prstGeom prst="roundRect">
            <a:avLst>
              <a:gd name="adj" fmla="val 26086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00050" y="6219825"/>
            <a:ext cx="11391900" cy="238125"/>
          </a:xfrm>
          <a:prstGeom prst="roundRect">
            <a:avLst/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622012" y="409575"/>
            <a:ext cx="1169937" cy="247650"/>
          </a:xfrm>
          <a:prstGeom prst="roundRect">
            <a:avLst>
              <a:gd name="adj" fmla="val 15384"/>
            </a:avLst>
          </a:prstGeom>
          <a:solidFill>
            <a:srgbClr val="F3E8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00050" y="2519362"/>
            <a:ext cx="3670250" cy="1852612"/>
          </a:xfrm>
          <a:prstGeom prst="roundRect">
            <a:avLst>
              <a:gd name="adj" fmla="val 61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260800" y="2519362"/>
            <a:ext cx="3670250" cy="1852612"/>
          </a:xfrm>
          <a:prstGeom prst="roundRect">
            <a:avLst>
              <a:gd name="adj" fmla="val 61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121550" y="2519362"/>
            <a:ext cx="3670399" cy="1852612"/>
          </a:xfrm>
          <a:prstGeom prst="roundRect">
            <a:avLst>
              <a:gd name="adj" fmla="val 61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622012" y="409575"/>
            <a:ext cx="1169937" cy="247650"/>
          </a:xfrm>
          <a:prstGeom prst="roundRect">
            <a:avLst>
              <a:gd name="adj" fmla="val 15384"/>
            </a:avLst>
          </a:prstGeom>
          <a:solidFill>
            <a:srgbClr val="F3E8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717262" y="447675"/>
            <a:ext cx="979437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6B21A8"/>
                </a:solidFill>
                <a:latin typeface="ui-monospace"/>
              </a:rPr>
              <a:t>RUNTIME_FABRIC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925" y="971550"/>
            <a:ext cx="11106150" cy="145874"/>
          </a:xfrm>
          <a:prstGeom prst="rect">
            <a:avLst/>
          </a:prstGeom>
          <a:noFill/>
        </p:spPr>
        <p:txBody>
          <a:bodyPr wrap="square" lIns="200025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 dirty="0">
                <a:solidFill>
                  <a:srgbClr val="0C4A6E"/>
                </a:solidFill>
                <a:latin typeface="ui-monospace"/>
              </a:rPr>
              <a:t>You will need an orchestrator to tie </a:t>
            </a:r>
            <a:r>
              <a:rPr lang="en-US" sz="900" b="1" i="0" u="none" dirty="0">
                <a:solidFill>
                  <a:srgbClr val="0C4A6E"/>
                </a:solidFill>
                <a:latin typeface="ui-monospace"/>
              </a:rPr>
              <a:t>all</a:t>
            </a:r>
            <a:r>
              <a:rPr sz="900" b="1" i="0" u="none" dirty="0">
                <a:solidFill>
                  <a:srgbClr val="0C4A6E"/>
                </a:solidFill>
                <a:latin typeface="ui-monospace"/>
              </a:rPr>
              <a:t> this together.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474" y="5153024"/>
            <a:ext cx="11106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 dirty="0">
                <a:solidFill>
                  <a:srgbClr val="78350F"/>
                </a:solidFill>
                <a:latin typeface="ui-monospace"/>
              </a:rPr>
              <a:t>Vulnerability scans are a function of time — today's clean image is not clean forever.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474" y="5343524"/>
            <a:ext cx="11106150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 dirty="0">
                <a:solidFill>
                  <a:srgbClr val="92400E"/>
                </a:solidFill>
                <a:latin typeface="ui-sans-serif"/>
              </a:rPr>
              <a:t>Re-validation may be necessary, but with snapshots and automation it stays manageable.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0050" y="6305550"/>
            <a:ext cx="3772644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64748B"/>
                </a:solidFill>
                <a:latin typeface="ui-monospace"/>
              </a:rPr>
              <a:t>Platform Engineering Workshop // Orchestration 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00171" y="6305550"/>
            <a:ext cx="891778" cy="145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 dirty="0">
                <a:solidFill>
                  <a:srgbClr val="64748B"/>
                </a:solidFill>
                <a:latin typeface="ui-monospace"/>
              </a:rPr>
              <a:t>SLIDE 06 / </a:t>
            </a:r>
            <a:r>
              <a:rPr lang="en-US" sz="900" dirty="0">
                <a:solidFill>
                  <a:srgbClr val="64748B"/>
                </a:solidFill>
                <a:latin typeface="ui-monospace"/>
              </a:rPr>
              <a:t>12</a:t>
            </a:r>
            <a:endParaRPr sz="900" b="0" i="0" u="none" dirty="0">
              <a:solidFill>
                <a:srgbClr val="64748B"/>
              </a:solidFill>
              <a:latin typeface="ui-monospace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3969" y="400050"/>
            <a:ext cx="361232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1" i="0" u="none">
                <a:solidFill>
                  <a:srgbClr val="0F172A"/>
                </a:solidFill>
                <a:latin typeface="ui-sans-serif"/>
              </a:rPr>
              <a:t>Orchestration: Tying It Together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925" y="981075"/>
            <a:ext cx="142875" cy="1143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075" y="2719387"/>
            <a:ext cx="304800" cy="304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00075" y="3138487"/>
            <a:ext cx="343371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F172A"/>
                </a:solidFill>
                <a:latin typeface="ui-sans-serif"/>
              </a:rPr>
              <a:t>Cloud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0075" y="3443287"/>
            <a:ext cx="3270200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sz="1400" dirty="0">
                <a:solidFill>
                  <a:srgbClr val="475569"/>
                </a:solidFill>
                <a:latin typeface="ui-sans-serif"/>
              </a:rPr>
              <a:t>Cloud-provided </a:t>
            </a:r>
            <a:r>
              <a:rPr sz="1400" b="0" i="0" u="none" dirty="0">
                <a:solidFill>
                  <a:srgbClr val="475569"/>
                </a:solidFill>
                <a:latin typeface="ui-sans-serif"/>
              </a:rPr>
              <a:t>managed Kubernetes orchestration in the cloud.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0825" y="2719387"/>
            <a:ext cx="304800" cy="304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460825" y="3138487"/>
            <a:ext cx="343371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F172A"/>
                </a:solidFill>
                <a:latin typeface="ui-sans-serif"/>
              </a:rPr>
              <a:t>On-prem</a:t>
            </a:r>
          </a:p>
        </p:txBody>
      </p:sp>
      <p:sp>
        <p:nvSpPr>
          <p:cNvPr id="29" name="TextBox 28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460825" y="3443287"/>
            <a:ext cx="3270200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400" b="0" i="0" u="none" dirty="0">
                <a:solidFill>
                  <a:srgbClr val="475569"/>
                </a:solidFill>
                <a:latin typeface="ui-sans-serif"/>
              </a:rPr>
              <a:t>Kubernetes</a:t>
            </a:r>
            <a:r>
              <a:rPr lang="en-US" sz="1400" dirty="0">
                <a:solidFill>
                  <a:srgbClr val="475569"/>
                </a:solidFill>
                <a:latin typeface="ui-sans-serif"/>
              </a:rPr>
              <a:t> (</a:t>
            </a:r>
            <a:r>
              <a:rPr sz="1400" b="0" i="0" u="none" dirty="0">
                <a:solidFill>
                  <a:srgbClr val="475569"/>
                </a:solidFill>
                <a:latin typeface="ui-sans-serif"/>
              </a:rPr>
              <a:t>minikube</a:t>
            </a:r>
            <a:r>
              <a:rPr lang="en-US" sz="1400" b="0" i="0" u="none" dirty="0">
                <a:solidFill>
                  <a:srgbClr val="475569"/>
                </a:solidFill>
                <a:latin typeface="ui-sans-serif"/>
              </a:rPr>
              <a:t>, singularity)</a:t>
            </a:r>
            <a:r>
              <a:rPr sz="1400" b="0" i="0" u="none" dirty="0">
                <a:solidFill>
                  <a:srgbClr val="475569"/>
                </a:solidFill>
                <a:latin typeface="ui-sans-serif"/>
              </a:rPr>
              <a:t> for local and on-prem clusters.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575" y="2719387"/>
            <a:ext cx="304800" cy="3048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321575" y="3138487"/>
            <a:ext cx="3433866" cy="21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0F172A"/>
                </a:solidFill>
                <a:latin typeface="ui-sans-serif"/>
              </a:rPr>
              <a:t>Runtimes</a:t>
            </a:r>
            <a:r>
              <a:rPr lang="en-US" sz="1200" b="1" i="0" u="none" dirty="0">
                <a:solidFill>
                  <a:srgbClr val="0F172A"/>
                </a:solidFill>
                <a:latin typeface="ui-sans-serif"/>
              </a:rPr>
              <a:t> (Local Deployments)</a:t>
            </a:r>
            <a:endParaRPr sz="1200" b="1" i="0" u="none" dirty="0">
              <a:solidFill>
                <a:srgbClr val="0F172A"/>
              </a:solidFill>
              <a:latin typeface="ui-sans-serif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321575" y="3443287"/>
            <a:ext cx="3270349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400" b="0" i="0" u="none" dirty="0">
                <a:solidFill>
                  <a:srgbClr val="475569"/>
                </a:solidFill>
                <a:latin typeface="ui-sans-serif"/>
              </a:rPr>
              <a:t>Docker Desktop, Podman (easier), or Rancher to run containers.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465" y="2805112"/>
            <a:ext cx="160020" cy="1333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46550" y="2805112"/>
            <a:ext cx="133350" cy="1333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9520" y="2805112"/>
            <a:ext cx="16891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" y="4593041"/>
            <a:ext cx="3168550" cy="39606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00050" y="6219825"/>
            <a:ext cx="11391900" cy="238125"/>
          </a:xfrm>
          <a:prstGeom prst="roundRect">
            <a:avLst/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484941" y="409575"/>
            <a:ext cx="1307008" cy="247650"/>
          </a:xfrm>
          <a:prstGeom prst="roundRect">
            <a:avLst>
              <a:gd name="adj" fmla="val 15384"/>
            </a:avLst>
          </a:prstGeom>
          <a:solidFill>
            <a:srgbClr val="D1FAE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00050" y="1781175"/>
            <a:ext cx="3644800" cy="3448050"/>
          </a:xfrm>
          <a:prstGeom prst="roundRect">
            <a:avLst>
              <a:gd name="adj" fmla="val 441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273450" y="1781175"/>
            <a:ext cx="7518499" cy="3448050"/>
          </a:xfrm>
          <a:prstGeom prst="roundRect">
            <a:avLst>
              <a:gd name="adj" fmla="val 441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11575" y="2247900"/>
            <a:ext cx="7042249" cy="552450"/>
          </a:xfrm>
          <a:prstGeom prst="roundRect">
            <a:avLst>
              <a:gd name="adj" fmla="val 20689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11575" y="2914650"/>
            <a:ext cx="7042249" cy="552450"/>
          </a:xfrm>
          <a:prstGeom prst="roundRect">
            <a:avLst>
              <a:gd name="adj" fmla="val 20689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11575" y="3581400"/>
            <a:ext cx="7042249" cy="552450"/>
          </a:xfrm>
          <a:prstGeom prst="roundRect">
            <a:avLst>
              <a:gd name="adj" fmla="val 20689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11575" y="4248150"/>
            <a:ext cx="7042249" cy="552450"/>
          </a:xfrm>
          <a:prstGeom prst="roundRect">
            <a:avLst>
              <a:gd name="adj" fmla="val 20689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635400" y="2371725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635400" y="3038475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635400" y="3705225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635400" y="4371975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84941" y="409575"/>
            <a:ext cx="1307008" cy="247650"/>
          </a:xfrm>
          <a:prstGeom prst="roundRect">
            <a:avLst>
              <a:gd name="adj" fmla="val 15384"/>
            </a:avLst>
          </a:prstGeom>
          <a:solidFill>
            <a:srgbClr val="D1FAE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80191" y="447675"/>
            <a:ext cx="1116508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065F46"/>
                </a:solidFill>
                <a:latin typeface="ui-monospace"/>
              </a:rPr>
              <a:t>QUALITY_EVIDENCE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0050" y="6305550"/>
            <a:ext cx="3566814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64748B"/>
                </a:solidFill>
                <a:latin typeface="ui-monospace"/>
              </a:rPr>
              <a:t>Platform Engineering Workshop // Compliance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00171" y="6305550"/>
            <a:ext cx="891778" cy="145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 dirty="0">
                <a:solidFill>
                  <a:srgbClr val="64748B"/>
                </a:solidFill>
                <a:latin typeface="ui-monospace"/>
              </a:rPr>
              <a:t>SLIDE 07 / </a:t>
            </a:r>
            <a:r>
              <a:rPr lang="en-US" sz="900" dirty="0">
                <a:solidFill>
                  <a:srgbClr val="64748B"/>
                </a:solidFill>
                <a:latin typeface="ui-monospace"/>
              </a:rPr>
              <a:t>12</a:t>
            </a:r>
            <a:endParaRPr sz="900" b="0" i="0" u="none" dirty="0">
              <a:solidFill>
                <a:srgbClr val="64748B"/>
              </a:solidFill>
              <a:latin typeface="ui-monospace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3969" y="400050"/>
            <a:ext cx="373406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1" i="0" u="none">
                <a:solidFill>
                  <a:srgbClr val="0F172A"/>
                </a:solidFill>
                <a:latin typeface="ui-sans-serif"/>
              </a:rPr>
              <a:t>What the Quality Team Looks For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1575" y="2019300"/>
            <a:ext cx="7042249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94A3B8"/>
                </a:solidFill>
                <a:latin typeface="ui-monospace"/>
              </a:rPr>
              <a:t>AUDIT REQUIREMENTS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1575" y="4838700"/>
            <a:ext cx="7042249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ui-monospace"/>
              </a:rPr>
              <a:t>// AUDIT_BINDER_VERIFIED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" y="2019300"/>
            <a:ext cx="381000" cy="381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38175" y="2552700"/>
            <a:ext cx="31685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94A3B8"/>
                </a:solidFill>
                <a:latin typeface="ui-monospace"/>
              </a:rPr>
              <a:t>PRIMARY STANDARD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175" y="2743200"/>
            <a:ext cx="3326978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1" i="0" u="none">
                <a:solidFill>
                  <a:srgbClr val="0F172A"/>
                </a:solidFill>
                <a:latin typeface="ui-sans-serif"/>
              </a:rPr>
              <a:t>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175" y="3124200"/>
            <a:ext cx="31685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00" b="0" i="0" u="none">
                <a:solidFill>
                  <a:srgbClr val="475569"/>
                </a:solidFill>
                <a:latin typeface="ui-sans-serif"/>
              </a:rPr>
              <a:t>Quality teams sign off on demonstrable, tamper-evident artifacts that prove reproducibility over time.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25" y="2124075"/>
            <a:ext cx="190500" cy="171450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4635400" y="2371725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35400" y="2371725"/>
            <a:ext cx="190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ts val="1200"/>
              </a:lnSpc>
            </a:pPr>
            <a:r>
              <a:rPr sz="900" b="1" i="0" u="none">
                <a:solidFill>
                  <a:srgbClr val="075985"/>
                </a:solidFill>
                <a:latin typeface="ui-monospace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40200" y="2371725"/>
            <a:ext cx="4902398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0F172A"/>
                </a:solidFill>
                <a:latin typeface="ui-sans-serif"/>
              </a:rPr>
              <a:t>Capture a Snapshot of Everything</a:t>
            </a:r>
            <a:r>
              <a:rPr sz="900" b="0" i="0" u="none">
                <a:solidFill>
                  <a:srgbClr val="334155"/>
                </a:solidFill>
                <a:latin typeface="ui-sans-serif"/>
              </a:rPr>
              <a:t> Environment, packages, images, and test results captured in permanent freeze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35400" y="3038475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35400" y="3038475"/>
            <a:ext cx="190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ts val="1200"/>
              </a:lnSpc>
            </a:pPr>
            <a:r>
              <a:rPr sz="900" b="1" i="0" u="none">
                <a:solidFill>
                  <a:srgbClr val="6B21A8"/>
                </a:solidFill>
                <a:latin typeface="ui-monospace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40200" y="3038475"/>
            <a:ext cx="424993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0F172A"/>
                </a:solidFill>
                <a:latin typeface="ui-sans-serif"/>
              </a:rPr>
              <a:t>Nix and Rix for Declarative Environments</a:t>
            </a:r>
            <a:r>
              <a:rPr sz="900" b="0" i="0" u="none">
                <a:solidFill>
                  <a:srgbClr val="334155"/>
                </a:solidFill>
                <a:latin typeface="ui-sans-serif"/>
              </a:rPr>
              <a:t> Nix and rix can help produce fully declarative, reproducible environments.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635400" y="3705225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35400" y="3705225"/>
            <a:ext cx="190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ts val="1200"/>
              </a:lnSpc>
            </a:pPr>
            <a:r>
              <a:rPr sz="900" b="1" i="0" u="none">
                <a:solidFill>
                  <a:srgbClr val="065F46"/>
                </a:solidFill>
                <a:latin typeface="ui-monospace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40200" y="3705225"/>
            <a:ext cx="4192041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0F172A"/>
                </a:solidFill>
                <a:latin typeface="ui-sans-serif"/>
              </a:rPr>
              <a:t>Automated Tests and Scan Reports</a:t>
            </a:r>
            <a:r>
              <a:rPr sz="900" b="0" i="0" u="none">
                <a:solidFill>
                  <a:srgbClr val="334155"/>
                </a:solidFill>
                <a:latin typeface="ui-sans-serif"/>
              </a:rPr>
              <a:t> Automated tests and scan reports become part of the evidence package.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35400" y="4371975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635400" y="4371975"/>
            <a:ext cx="190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ts val="1200"/>
              </a:lnSpc>
            </a:pPr>
            <a:r>
              <a:rPr sz="900" b="1" i="0" u="none">
                <a:solidFill>
                  <a:srgbClr val="92400E"/>
                </a:solidFill>
                <a:latin typeface="ui-monospace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40200" y="4371975"/>
            <a:ext cx="47116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0F172A"/>
                </a:solidFill>
                <a:latin typeface="ui-sans-serif"/>
              </a:rPr>
              <a:t>Regeneration on Demand</a:t>
            </a:r>
            <a:r>
              <a:rPr sz="900" b="0" i="0" u="none">
                <a:solidFill>
                  <a:srgbClr val="334155"/>
                </a:solidFill>
                <a:latin typeface="ui-sans-serif"/>
              </a:rPr>
              <a:t> Because the definition lives in the repo, evidence can be regenerated on demand.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445293" y="4486274"/>
            <a:ext cx="11391900" cy="1019175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4895850"/>
            <a:ext cx="2719387" cy="285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8512" y="4895850"/>
            <a:ext cx="2719387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4100" y="4895850"/>
            <a:ext cx="2719387" cy="285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9687" y="4895850"/>
            <a:ext cx="2719387" cy="2857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00050" y="6219825"/>
            <a:ext cx="11391900" cy="238125"/>
          </a:xfrm>
          <a:prstGeom prst="roundRect">
            <a:avLst/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00050" y="2238375"/>
            <a:ext cx="11391900" cy="1019175"/>
          </a:xfrm>
          <a:prstGeom prst="roundRect">
            <a:avLst>
              <a:gd name="adj" fmla="val 11214"/>
            </a:avLst>
          </a:prstGeom>
          <a:solidFill>
            <a:srgbClr val="FFFF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00050" y="3371850"/>
            <a:ext cx="11391900" cy="1019175"/>
          </a:xfrm>
          <a:prstGeom prst="roundRect">
            <a:avLst>
              <a:gd name="adj" fmla="val 11214"/>
            </a:avLst>
          </a:prstGeom>
          <a:solidFill>
            <a:srgbClr val="FFFF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238803" y="507493"/>
            <a:ext cx="1101328" cy="209550"/>
          </a:xfrm>
          <a:prstGeom prst="roundRect">
            <a:avLst>
              <a:gd name="adj" fmla="val 18181"/>
            </a:avLst>
          </a:prstGeom>
          <a:solidFill>
            <a:srgbClr val="E0F2FE"/>
          </a:solidFill>
          <a:ln w="952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16331" y="507493"/>
            <a:ext cx="1375618" cy="209550"/>
          </a:xfrm>
          <a:prstGeom prst="roundRect">
            <a:avLst>
              <a:gd name="adj" fmla="val 18181"/>
            </a:avLst>
          </a:prstGeom>
          <a:solidFill>
            <a:srgbClr val="F3E8FF"/>
          </a:solidFill>
          <a:ln w="9525">
            <a:solidFill>
              <a:srgbClr val="D8B4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2925" y="2381250"/>
            <a:ext cx="2553146" cy="190500"/>
          </a:xfrm>
          <a:prstGeom prst="roundRect">
            <a:avLst>
              <a:gd name="adj" fmla="val 20000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2925" y="2628900"/>
            <a:ext cx="3625750" cy="485775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282975" y="2628900"/>
            <a:ext cx="3625899" cy="485775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023175" y="2628900"/>
            <a:ext cx="3625750" cy="485775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42925" y="3514725"/>
            <a:ext cx="2621756" cy="1905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42925" y="3762375"/>
            <a:ext cx="3625750" cy="485775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282975" y="3762375"/>
            <a:ext cx="3625899" cy="485775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023175" y="3762375"/>
            <a:ext cx="3625750" cy="485775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42925" y="4648200"/>
            <a:ext cx="2964656" cy="19050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00050" y="1000125"/>
            <a:ext cx="117919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1" i="0" u="none" dirty="0">
                <a:solidFill>
                  <a:srgbClr val="0F172A"/>
                </a:solidFill>
                <a:latin typeface="ui-sans-serif"/>
              </a:rPr>
              <a:t>Container Architecture for R Environment 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0050" y="6305550"/>
            <a:ext cx="3635424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64748B"/>
                </a:solidFill>
                <a:latin typeface="ui-monospace"/>
              </a:rPr>
              <a:t>Pfizer Platform Engineering // Container Architecture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00171" y="6305550"/>
            <a:ext cx="891778" cy="145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 dirty="0">
                <a:solidFill>
                  <a:srgbClr val="64748B"/>
                </a:solidFill>
                <a:latin typeface="ui-monospace"/>
              </a:rPr>
              <a:t>SLIDE 0</a:t>
            </a:r>
            <a:r>
              <a:rPr lang="en-US" sz="900" b="0" i="0" u="none" dirty="0">
                <a:solidFill>
                  <a:srgbClr val="64748B"/>
                </a:solidFill>
                <a:latin typeface="ui-monospace"/>
              </a:rPr>
              <a:t>8</a:t>
            </a:r>
            <a:r>
              <a:rPr sz="900" b="0" i="0" u="none" dirty="0">
                <a:solidFill>
                  <a:srgbClr val="64748B"/>
                </a:solidFill>
                <a:latin typeface="ui-monospace"/>
              </a:rPr>
              <a:t> / </a:t>
            </a:r>
            <a:r>
              <a:rPr lang="en-US" sz="900" b="0" i="0" u="none" dirty="0">
                <a:solidFill>
                  <a:srgbClr val="64748B"/>
                </a:solidFill>
                <a:latin typeface="ui-monospace"/>
              </a:rPr>
              <a:t>12</a:t>
            </a:r>
            <a:endParaRPr sz="900" b="0" i="0" u="none" dirty="0">
              <a:solidFill>
                <a:srgbClr val="64748B"/>
              </a:solidFill>
              <a:latin typeface="ui-monospace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9238803" y="507493"/>
            <a:ext cx="1101328" cy="209550"/>
          </a:xfrm>
          <a:prstGeom prst="roundRect">
            <a:avLst>
              <a:gd name="adj" fmla="val 18181"/>
            </a:avLst>
          </a:prstGeom>
          <a:solidFill>
            <a:srgbClr val="E0F2FE"/>
          </a:solidFill>
          <a:ln w="952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38803" y="569117"/>
            <a:ext cx="1006078" cy="145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900" b="1" i="0" u="none" dirty="0">
                <a:solidFill>
                  <a:srgbClr val="0C4A6E"/>
                </a:solidFill>
                <a:latin typeface="ui-monospace"/>
              </a:rPr>
              <a:t>CONTAINER</a:t>
            </a:r>
            <a:r>
              <a:rPr sz="900" b="1" i="0" u="none" dirty="0">
                <a:solidFill>
                  <a:srgbClr val="0C4A6E"/>
                </a:solidFill>
                <a:latin typeface="ui-monospace"/>
              </a:rPr>
              <a:t>_ENGINE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416331" y="507493"/>
            <a:ext cx="1375618" cy="209550"/>
          </a:xfrm>
          <a:prstGeom prst="roundRect">
            <a:avLst>
              <a:gd name="adj" fmla="val 18181"/>
            </a:avLst>
          </a:prstGeom>
          <a:solidFill>
            <a:srgbClr val="F3E8FF"/>
          </a:solidFill>
          <a:ln w="9525">
            <a:solidFill>
              <a:srgbClr val="D8B4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511581" y="526543"/>
            <a:ext cx="1185118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581C87"/>
                </a:solidFill>
                <a:latin typeface="ui-monospace"/>
              </a:rPr>
              <a:t>IMMUTABLE_RUNTIME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2925" y="2381250"/>
            <a:ext cx="2553146" cy="190500"/>
          </a:xfrm>
          <a:prstGeom prst="roundRect">
            <a:avLst>
              <a:gd name="adj" fmla="val 20000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9125" y="2400300"/>
            <a:ext cx="24007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6B21A8"/>
                </a:solidFill>
                <a:latin typeface="ui-monospace"/>
              </a:rPr>
              <a:t>LAYER 3 // R APPLICATION &amp; PACKAGES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77152" y="2397918"/>
            <a:ext cx="1571922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1" i="0" u="none">
                <a:solidFill>
                  <a:srgbClr val="7E22CE"/>
                </a:solidFill>
                <a:latin typeface="ui-monospace"/>
              </a:rPr>
              <a:t>GOVERNED_BY_RSPM_AND_RENV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2925" y="3514725"/>
            <a:ext cx="2621756" cy="1905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9125" y="3533775"/>
            <a:ext cx="246935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075985"/>
                </a:solidFill>
                <a:latin typeface="ui-monospace"/>
              </a:rPr>
              <a:t>LAYER 2 // BASE R &amp; SYSTEM COMPILERS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77152" y="3531393"/>
            <a:ext cx="1571922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1" i="0" u="none">
                <a:solidFill>
                  <a:srgbClr val="0369A1"/>
                </a:solidFill>
                <a:latin typeface="ui-monospace"/>
              </a:rPr>
              <a:t>DOCKERFILE_HERMETIC_BUILD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2925" y="4648200"/>
            <a:ext cx="2964656" cy="19050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19125" y="4667250"/>
            <a:ext cx="2812256" cy="145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1E293B"/>
                </a:solidFill>
                <a:latin typeface="ui-monospace"/>
              </a:rPr>
              <a:t>LAYER 1 // </a:t>
            </a:r>
            <a:r>
              <a:rPr lang="en-US" sz="900" b="1" i="0" u="none">
                <a:solidFill>
                  <a:srgbClr val="1E293B"/>
                </a:solidFill>
                <a:latin typeface="ui-monospace"/>
              </a:rPr>
              <a:t>STANDARDIZED </a:t>
            </a:r>
            <a:r>
              <a:rPr sz="900" b="1" i="0" u="none">
                <a:solidFill>
                  <a:srgbClr val="1E293B"/>
                </a:solidFill>
                <a:latin typeface="ui-monospace"/>
              </a:rPr>
              <a:t>HOST TARGETS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51392" y="4664868"/>
            <a:ext cx="1697682" cy="1433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lang="en-US" sz="825" b="1" i="0" u="none">
                <a:solidFill>
                  <a:srgbClr val="64748B"/>
                </a:solidFill>
                <a:latin typeface="ui-monospace"/>
              </a:rPr>
              <a:t>SAME</a:t>
            </a:r>
            <a:r>
              <a:rPr sz="825" b="1" i="0" u="none">
                <a:solidFill>
                  <a:srgbClr val="64748B"/>
                </a:solidFill>
                <a:latin typeface="ui-monospace"/>
              </a:rPr>
              <a:t>_IMAGE_</a:t>
            </a:r>
            <a:r>
              <a:rPr lang="en-US" sz="825" b="1" i="0" u="none">
                <a:solidFill>
                  <a:srgbClr val="64748B"/>
                </a:solidFill>
                <a:latin typeface="ui-monospace"/>
              </a:rPr>
              <a:t>ON_EVERY_HOST</a:t>
            </a:r>
            <a:endParaRPr sz="825" b="1" i="0" u="none">
              <a:solidFill>
                <a:srgbClr val="64748B"/>
              </a:solidFill>
              <a:latin typeface="ui-monospace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28650" y="2714625"/>
            <a:ext cx="34543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1E293B"/>
                </a:solidFill>
                <a:latin typeface="ui-sans-serif"/>
              </a:rPr>
              <a:t>Frozen CRAN Snapshots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8650" y="2886075"/>
            <a:ext cx="268977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64748B"/>
                </a:solidFill>
                <a:latin typeface="ui-sans-serif"/>
              </a:rPr>
              <a:t>ppm.pfizer.com/</a:t>
            </a:r>
            <a:r>
              <a:rPr sz="825" b="0" i="0" u="none" dirty="0" err="1">
                <a:solidFill>
                  <a:srgbClr val="64748B"/>
                </a:solidFill>
                <a:latin typeface="ui-sans-serif"/>
              </a:rPr>
              <a:t>cran</a:t>
            </a:r>
            <a:r>
              <a:rPr sz="825" b="0" i="0" u="none" dirty="0">
                <a:solidFill>
                  <a:srgbClr val="64748B"/>
                </a:solidFill>
                <a:latin typeface="ui-sans-serif"/>
              </a:rPr>
              <a:t>/2026-03-01 datetime markers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68700" y="2714625"/>
            <a:ext cx="3454449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1E293B"/>
                </a:solidFill>
                <a:latin typeface="ui-sans-serif"/>
              </a:rPr>
              <a:t>Internal Clinical Modules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68700" y="2886075"/>
            <a:ext cx="2373064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64748B"/>
                </a:solidFill>
                <a:latin typeface="ui-sans-serif"/>
              </a:rPr>
              <a:t>Corporate analysis packages versioned in Git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08900" y="2714625"/>
            <a:ext cx="34543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1E293B"/>
                </a:solidFill>
                <a:latin typeface="ui-sans-serif"/>
              </a:rPr>
              <a:t>Immutable Library Mount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08900" y="2886075"/>
            <a:ext cx="2885926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64748B"/>
                </a:solidFill>
                <a:latin typeface="ui-sans-serif"/>
              </a:rPr>
              <a:t>Read-only volume blocks unauthorized runtime installs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8650" y="3848100"/>
            <a:ext cx="34543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1E293B"/>
                </a:solidFill>
                <a:latin typeface="ui-sans-serif"/>
              </a:rPr>
              <a:t>Pinned R Core Distribution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8650" y="4019550"/>
            <a:ext cx="27813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64748B"/>
                </a:solidFill>
                <a:latin typeface="ui-sans-serif"/>
              </a:rPr>
              <a:t>Base R runtime compiled with certified BLAS/LAPACK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68700" y="3848100"/>
            <a:ext cx="3454449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1E293B"/>
                </a:solidFill>
                <a:latin typeface="ui-sans-serif"/>
              </a:rPr>
              <a:t>Locked Linux Libraries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68700" y="4019550"/>
            <a:ext cx="2454919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64748B"/>
                </a:solidFill>
                <a:latin typeface="ui-sans-serif"/>
              </a:rPr>
              <a:t>libxml2, openssl, gfortran, Pandoc, LaTeX fonts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08900" y="3848100"/>
            <a:ext cx="34543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1E293B"/>
                </a:solidFill>
                <a:latin typeface="ui-sans-serif"/>
              </a:rPr>
              <a:t>Immutable Image Digest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08900" y="4019550"/>
            <a:ext cx="2639466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64748B"/>
                </a:solidFill>
                <a:latin typeface="ui-sans-serif"/>
              </a:rPr>
              <a:t>sha256:7f8a9b... signed via Cosign &amp; registry lock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" y="3157537"/>
            <a:ext cx="5200650" cy="328612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275" y="3157537"/>
            <a:ext cx="5200650" cy="3286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75" y="5305425"/>
            <a:ext cx="5200650" cy="3286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275" y="5305425"/>
            <a:ext cx="5200650" cy="32861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00050" y="6219825"/>
            <a:ext cx="11391900" cy="238125"/>
          </a:xfrm>
          <a:prstGeom prst="roundRect">
            <a:avLst/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00050" y="1728787"/>
            <a:ext cx="5600700" cy="1957387"/>
          </a:xfrm>
          <a:prstGeom prst="roundRect">
            <a:avLst>
              <a:gd name="adj" fmla="val 583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91250" y="1728787"/>
            <a:ext cx="5600700" cy="1957387"/>
          </a:xfrm>
          <a:prstGeom prst="roundRect">
            <a:avLst>
              <a:gd name="adj" fmla="val 583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00050" y="3876675"/>
            <a:ext cx="5600700" cy="1957387"/>
          </a:xfrm>
          <a:prstGeom prst="roundRect">
            <a:avLst>
              <a:gd name="adj" fmla="val 583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91250" y="3876675"/>
            <a:ext cx="5600700" cy="1957387"/>
          </a:xfrm>
          <a:prstGeom prst="roundRect">
            <a:avLst>
              <a:gd name="adj" fmla="val 583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964364" y="400050"/>
            <a:ext cx="1169937" cy="209550"/>
          </a:xfrm>
          <a:prstGeom prst="roundRect">
            <a:avLst>
              <a:gd name="adj" fmla="val 18181"/>
            </a:avLst>
          </a:prstGeom>
          <a:solidFill>
            <a:srgbClr val="FEF3C7"/>
          </a:solidFill>
          <a:ln w="9525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210502" y="400050"/>
            <a:ext cx="1581447" cy="209550"/>
          </a:xfrm>
          <a:prstGeom prst="roundRect">
            <a:avLst>
              <a:gd name="adj" fmla="val 18181"/>
            </a:avLst>
          </a:prstGeom>
          <a:solidFill>
            <a:srgbClr val="D1FAE5"/>
          </a:solidFill>
          <a:ln w="9525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0050" y="1000125"/>
            <a:ext cx="11791950" cy="2917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1" i="0" u="none" dirty="0">
                <a:solidFill>
                  <a:srgbClr val="0F172A"/>
                </a:solidFill>
                <a:latin typeface="ui-sans-serif"/>
              </a:rPr>
              <a:t>Strategic Benefits of </a:t>
            </a:r>
            <a:r>
              <a:rPr lang="en-US" sz="1800" b="1" i="0" u="none" dirty="0">
                <a:solidFill>
                  <a:srgbClr val="0F172A"/>
                </a:solidFill>
                <a:latin typeface="ui-sans-serif"/>
              </a:rPr>
              <a:t>Containers</a:t>
            </a:r>
            <a:r>
              <a:rPr sz="1800" b="1" i="0" u="none" dirty="0">
                <a:solidFill>
                  <a:srgbClr val="0F172A"/>
                </a:solidFill>
                <a:latin typeface="ui-sans-serif"/>
              </a:rPr>
              <a:t> in </a:t>
            </a:r>
            <a:r>
              <a:rPr sz="1800" b="1" i="0" u="none" dirty="0" err="1">
                <a:solidFill>
                  <a:srgbClr val="0F172A"/>
                </a:solidFill>
                <a:latin typeface="ui-sans-serif"/>
              </a:rPr>
              <a:t>GxP</a:t>
            </a:r>
            <a:r>
              <a:rPr sz="1800" b="1" i="0" u="none" dirty="0">
                <a:solidFill>
                  <a:srgbClr val="0F172A"/>
                </a:solidFill>
                <a:latin typeface="ui-sans-serif"/>
              </a:rPr>
              <a:t>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050" y="6305550"/>
            <a:ext cx="342959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 dirty="0">
                <a:solidFill>
                  <a:srgbClr val="64748B"/>
                </a:solidFill>
                <a:latin typeface="ui-monospace"/>
              </a:rPr>
              <a:t>Pfizer Platform Engineering // Validation Benefits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00171" y="6305550"/>
            <a:ext cx="891778" cy="145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 dirty="0">
                <a:solidFill>
                  <a:srgbClr val="64748B"/>
                </a:solidFill>
                <a:latin typeface="ui-monospace"/>
              </a:rPr>
              <a:t>SLIDE 0</a:t>
            </a:r>
            <a:r>
              <a:rPr lang="en-US" sz="900" b="0" i="0" u="none" dirty="0">
                <a:solidFill>
                  <a:srgbClr val="64748B"/>
                </a:solidFill>
                <a:latin typeface="ui-monospace"/>
              </a:rPr>
              <a:t>9</a:t>
            </a:r>
            <a:r>
              <a:rPr sz="900" b="0" i="0" u="none" dirty="0">
                <a:solidFill>
                  <a:srgbClr val="64748B"/>
                </a:solidFill>
                <a:latin typeface="ui-monospace"/>
              </a:rPr>
              <a:t>/ </a:t>
            </a:r>
            <a:r>
              <a:rPr lang="en-US" sz="900" dirty="0">
                <a:solidFill>
                  <a:srgbClr val="64748B"/>
                </a:solidFill>
                <a:latin typeface="ui-monospace"/>
              </a:rPr>
              <a:t>12</a:t>
            </a:r>
            <a:endParaRPr sz="900" b="0" i="0" u="none" dirty="0">
              <a:solidFill>
                <a:srgbClr val="64748B"/>
              </a:solidFill>
              <a:latin typeface="ui-monospace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964364" y="400050"/>
            <a:ext cx="1169937" cy="209550"/>
          </a:xfrm>
          <a:prstGeom prst="roundRect">
            <a:avLst>
              <a:gd name="adj" fmla="val 18181"/>
            </a:avLst>
          </a:prstGeom>
          <a:solidFill>
            <a:srgbClr val="FEF3C7"/>
          </a:solidFill>
          <a:ln w="9525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59614" y="419100"/>
            <a:ext cx="979437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78350F"/>
                </a:solidFill>
                <a:latin typeface="ui-monospace"/>
              </a:rPr>
              <a:t>BUSINESS_VALUE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10502" y="400050"/>
            <a:ext cx="1581447" cy="209550"/>
          </a:xfrm>
          <a:prstGeom prst="roundRect">
            <a:avLst>
              <a:gd name="adj" fmla="val 18181"/>
            </a:avLst>
          </a:prstGeom>
          <a:solidFill>
            <a:srgbClr val="D1FAE5"/>
          </a:solidFill>
          <a:ln w="9525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305752" y="419100"/>
            <a:ext cx="1390947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064E3B"/>
                </a:solidFill>
                <a:latin typeface="ui-monospace"/>
              </a:rPr>
              <a:t>COMPLIANCE_ASSURANCE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075" y="1928812"/>
            <a:ext cx="342900" cy="3429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00075" y="2386012"/>
            <a:ext cx="546068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F172A"/>
                </a:solidFill>
                <a:latin typeface="ui-sans-serif"/>
              </a:rPr>
              <a:t>Hermetic Isolation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075" y="2671762"/>
            <a:ext cx="5200650" cy="5770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400" b="0" i="0" u="none" dirty="0">
                <a:solidFill>
                  <a:srgbClr val="475569"/>
                </a:solidFill>
                <a:latin typeface="ui-sans-serif"/>
              </a:rPr>
              <a:t>Eliminates local machine differences and dynamic package pollution. Each analysis executes in a self-contained runtime with locked C compilers and OS libraries.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275" y="1928812"/>
            <a:ext cx="342900" cy="3429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391275" y="2386012"/>
            <a:ext cx="546068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F172A"/>
                </a:solidFill>
                <a:latin typeface="ui-sans-serif"/>
              </a:rPr>
              <a:t>Bit-for-Bit Determinism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1275" y="2671762"/>
            <a:ext cx="5200650" cy="5770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400" b="0" i="0" u="none" dirty="0">
                <a:solidFill>
                  <a:srgbClr val="475569"/>
                </a:solidFill>
                <a:latin typeface="ui-sans-serif"/>
              </a:rPr>
              <a:t>Ensures mathematical algorithms and statistical pipelines yield identical calculations across laptops, on-prem clusters, and cloud Kubernetes instances.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075" y="4076700"/>
            <a:ext cx="342900" cy="3429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00075" y="4533900"/>
            <a:ext cx="546068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F172A"/>
                </a:solidFill>
                <a:latin typeface="ui-sans-serif"/>
              </a:rPr>
              <a:t>Cryptographic Traceability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075" y="4819650"/>
            <a:ext cx="5200650" cy="5770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400" b="0" i="0" u="none" dirty="0">
                <a:solidFill>
                  <a:srgbClr val="475569"/>
                </a:solidFill>
                <a:latin typeface="ui-sans-serif"/>
              </a:rPr>
              <a:t>Containers are tagged with immutable SHA-256 digests and signed with Cosign keys. Satisfies FDA 21 CFR Part 11 requirements for historical reconstruction.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275" y="4076700"/>
            <a:ext cx="342900" cy="3429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391275" y="4533900"/>
            <a:ext cx="546068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F172A"/>
                </a:solidFill>
                <a:latin typeface="ui-sans-serif"/>
              </a:rPr>
              <a:t>Automated CI/CD Scalability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91275" y="4819650"/>
            <a:ext cx="5200650" cy="5770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400" b="0" i="0" u="none" dirty="0">
                <a:solidFill>
                  <a:srgbClr val="475569"/>
                </a:solidFill>
                <a:latin typeface="ui-sans-serif"/>
              </a:rPr>
              <a:t>Enables automated testing, vulnerability scanning (</a:t>
            </a:r>
            <a:r>
              <a:rPr sz="1400" b="0" i="0" u="none" dirty="0" err="1">
                <a:solidFill>
                  <a:srgbClr val="475569"/>
                </a:solidFill>
                <a:latin typeface="ui-sans-serif"/>
              </a:rPr>
              <a:t>Trivy</a:t>
            </a:r>
            <a:r>
              <a:rPr sz="1400" b="0" i="0" u="none" dirty="0">
                <a:solidFill>
                  <a:srgbClr val="475569"/>
                </a:solidFill>
                <a:latin typeface="ui-sans-serif"/>
              </a:rPr>
              <a:t>), and qualification workflows on every git commit. Environments spin up in seconds rather than hours.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405" y="2033587"/>
            <a:ext cx="142240" cy="13335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0495" y="2033587"/>
            <a:ext cx="124460" cy="13335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850" y="4181475"/>
            <a:ext cx="133350" cy="13335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575" y="4181475"/>
            <a:ext cx="11430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" y="4605337"/>
            <a:ext cx="3270200" cy="328612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0825" y="4605337"/>
            <a:ext cx="3270200" cy="3286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575" y="4605337"/>
            <a:ext cx="3270349" cy="32861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00050" y="1343025"/>
            <a:ext cx="11391900" cy="657225"/>
          </a:xfrm>
          <a:prstGeom prst="roundRect">
            <a:avLst>
              <a:gd name="adj" fmla="val 17391"/>
            </a:avLst>
          </a:prstGeom>
          <a:solidFill>
            <a:srgbClr val="FAF5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00050" y="6219825"/>
            <a:ext cx="11391900" cy="238125"/>
          </a:xfrm>
          <a:prstGeom prst="roundRect">
            <a:avLst/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00050" y="3086100"/>
            <a:ext cx="3670250" cy="2047875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260800" y="3086100"/>
            <a:ext cx="3670250" cy="2047875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121550" y="3086100"/>
            <a:ext cx="3670399" cy="2047875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375874" y="400050"/>
            <a:ext cx="1169937" cy="209550"/>
          </a:xfrm>
          <a:prstGeom prst="roundRect">
            <a:avLst>
              <a:gd name="adj" fmla="val 18181"/>
            </a:avLst>
          </a:prstGeom>
          <a:solidFill>
            <a:srgbClr val="F3E8FF"/>
          </a:solidFill>
          <a:ln w="9525">
            <a:solidFill>
              <a:srgbClr val="D8B4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622012" y="400050"/>
            <a:ext cx="1169937" cy="209550"/>
          </a:xfrm>
          <a:prstGeom prst="roundRect">
            <a:avLst>
              <a:gd name="adj" fmla="val 18181"/>
            </a:avLst>
          </a:prstGeom>
          <a:solidFill>
            <a:srgbClr val="E0F2FE"/>
          </a:solidFill>
          <a:ln w="952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00075" y="3305175"/>
            <a:ext cx="495448" cy="1905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460825" y="3305175"/>
            <a:ext cx="632668" cy="190500"/>
          </a:xfrm>
          <a:prstGeom prst="roundRect">
            <a:avLst>
              <a:gd name="adj" fmla="val 20000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321575" y="3305175"/>
            <a:ext cx="838348" cy="190500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0050" y="1000125"/>
            <a:ext cx="117919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1" i="0" u="none">
                <a:solidFill>
                  <a:srgbClr val="0F172A"/>
                </a:solidFill>
                <a:latin typeface="ui-sans-serif"/>
              </a:rPr>
              <a:t>The Rocker Project: Standardizing Validated R Images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2925" y="1485900"/>
            <a:ext cx="111061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00" b="0" i="0" u="none">
                <a:solidFill>
                  <a:srgbClr val="3B0764"/>
                </a:solidFill>
                <a:latin typeface="ui-sans-serif"/>
              </a:rPr>
              <a:t>The </a:t>
            </a:r>
            <a:r>
              <a:rPr sz="900" b="1" i="0" u="none">
                <a:solidFill>
                  <a:srgbClr val="3B0764"/>
                </a:solidFill>
                <a:latin typeface="ui-sans-serif"/>
              </a:rPr>
              <a:t>Rocker Project</a:t>
            </a:r>
            <a:r>
              <a:rPr sz="900" b="0" i="0" u="none">
                <a:solidFill>
                  <a:srgbClr val="3B0764"/>
                </a:solidFill>
                <a:latin typeface="ui-sans-serif"/>
              </a:rPr>
              <a:t> is the open-source community standard providing official Docker containers for R. It establishes the trusted starting layer for GxP validation by pairing specific R releases with matching Ubuntu/Debian LTS system libraries.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0050" y="6305550"/>
            <a:ext cx="4389834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64748B"/>
                </a:solidFill>
                <a:latin typeface="ui-monospace"/>
              </a:rPr>
              <a:t>Pfizer Platform Engineering // Rocker Ecosystem &amp; GxP Extensions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00171" y="6305550"/>
            <a:ext cx="891778" cy="145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 dirty="0">
                <a:solidFill>
                  <a:srgbClr val="64748B"/>
                </a:solidFill>
                <a:latin typeface="ui-monospace"/>
              </a:rPr>
              <a:t>SLIDE </a:t>
            </a:r>
            <a:r>
              <a:rPr lang="en-US" sz="900" b="0" i="0" u="none" dirty="0">
                <a:solidFill>
                  <a:srgbClr val="64748B"/>
                </a:solidFill>
                <a:latin typeface="ui-monospace"/>
              </a:rPr>
              <a:t>10 </a:t>
            </a:r>
            <a:r>
              <a:rPr sz="900" b="0" i="0" u="none" dirty="0">
                <a:solidFill>
                  <a:srgbClr val="64748B"/>
                </a:solidFill>
                <a:latin typeface="ui-monospace"/>
              </a:rPr>
              <a:t>/ </a:t>
            </a:r>
            <a:r>
              <a:rPr lang="en-US" sz="900" dirty="0">
                <a:solidFill>
                  <a:srgbClr val="64748B"/>
                </a:solidFill>
                <a:latin typeface="ui-monospace"/>
              </a:rPr>
              <a:t>12</a:t>
            </a:r>
            <a:endParaRPr sz="900" b="0" i="0" u="none" dirty="0">
              <a:solidFill>
                <a:srgbClr val="64748B"/>
              </a:solidFill>
              <a:latin typeface="ui-monospace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375874" y="400050"/>
            <a:ext cx="1169937" cy="209550"/>
          </a:xfrm>
          <a:prstGeom prst="roundRect">
            <a:avLst>
              <a:gd name="adj" fmla="val 18181"/>
            </a:avLst>
          </a:prstGeom>
          <a:solidFill>
            <a:srgbClr val="F3E8FF"/>
          </a:solidFill>
          <a:ln w="9525">
            <a:solidFill>
              <a:srgbClr val="D8B4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71124" y="419100"/>
            <a:ext cx="979437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581C87"/>
                </a:solidFill>
                <a:latin typeface="ui-monospace"/>
              </a:rPr>
              <a:t>ROCKER_PROJECT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622012" y="400050"/>
            <a:ext cx="1169937" cy="209550"/>
          </a:xfrm>
          <a:prstGeom prst="roundRect">
            <a:avLst>
              <a:gd name="adj" fmla="val 18181"/>
            </a:avLst>
          </a:prstGeom>
          <a:solidFill>
            <a:srgbClr val="E0F2FE"/>
          </a:solidFill>
          <a:ln w="952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717262" y="419100"/>
            <a:ext cx="979437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0C4A6E"/>
                </a:solidFill>
                <a:latin typeface="ui-monospace"/>
              </a:rPr>
              <a:t>VERSION_STABLE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0075" y="3629025"/>
            <a:ext cx="343371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F172A"/>
                </a:solidFill>
                <a:latin typeface="ui-sans-serif"/>
              </a:rPr>
              <a:t>rocker/r-ver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0075" y="3914775"/>
            <a:ext cx="3270200" cy="576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200" b="0" i="0" u="none" dirty="0">
                <a:solidFill>
                  <a:srgbClr val="475569"/>
                </a:solidFill>
                <a:latin typeface="ui-sans-serif"/>
              </a:rPr>
              <a:t>Minimal, version-stable base containers (e.g. rocker/r-ver:4.3.3). Automatically sets default CRAN repos to matching point-in-time snapshots.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0825" y="3629025"/>
            <a:ext cx="343371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F172A"/>
                </a:solidFill>
                <a:latin typeface="ui-sans-serif"/>
              </a:rPr>
              <a:t>rocker/rstudio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60825" y="3914775"/>
            <a:ext cx="3270200" cy="7620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200" b="0" i="0" u="none" dirty="0">
                <a:solidFill>
                  <a:srgbClr val="475569"/>
                </a:solidFill>
                <a:latin typeface="ui-sans-serif"/>
              </a:rPr>
              <a:t>Extends r-</a:t>
            </a:r>
            <a:r>
              <a:rPr sz="1200" b="0" i="0" u="none" dirty="0" err="1">
                <a:solidFill>
                  <a:srgbClr val="475569"/>
                </a:solidFill>
                <a:latin typeface="ui-sans-serif"/>
              </a:rPr>
              <a:t>ver</a:t>
            </a:r>
            <a:r>
              <a:rPr sz="1200" b="0" i="0" u="none" dirty="0">
                <a:solidFill>
                  <a:srgbClr val="475569"/>
                </a:solidFill>
                <a:latin typeface="ui-sans-serif"/>
              </a:rPr>
              <a:t> with RStudio Server, user authentication, and system dependencies. Used as the interactive container pod inside Posit Workbench.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575" y="3629025"/>
            <a:ext cx="343386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F172A"/>
                </a:solidFill>
                <a:latin typeface="ui-sans-serif"/>
              </a:rPr>
              <a:t>Enterprise Validation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575" y="3914775"/>
            <a:ext cx="3270349" cy="7620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200" b="0" i="0" u="none" dirty="0">
                <a:solidFill>
                  <a:srgbClr val="475569"/>
                </a:solidFill>
                <a:latin typeface="ui-sans-serif"/>
              </a:rPr>
              <a:t>Solutions engineers extend Rocker by adding corporate SSL certs, Posit Package Manager endpoints, proprietary packages, and automated verification tests.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0075" y="3305175"/>
            <a:ext cx="495448" cy="1905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6275" y="3324225"/>
            <a:ext cx="343048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075985"/>
                </a:solidFill>
                <a:latin typeface="ui-monospace"/>
              </a:rPr>
              <a:t>r-ver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8825" y="3287629"/>
            <a:ext cx="171450" cy="225592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4460825" y="3305175"/>
            <a:ext cx="632668" cy="190500"/>
          </a:xfrm>
          <a:prstGeom prst="roundRect">
            <a:avLst>
              <a:gd name="adj" fmla="val 20000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37025" y="3324225"/>
            <a:ext cx="480268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6B21A8"/>
                </a:solidFill>
                <a:latin typeface="ui-monospace"/>
              </a:rPr>
              <a:t>rstudio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9575" y="3292141"/>
            <a:ext cx="171450" cy="216568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8321575" y="3305175"/>
            <a:ext cx="838348" cy="190500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97775" y="3324225"/>
            <a:ext cx="685948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065F46"/>
                </a:solidFill>
                <a:latin typeface="ui-monospace"/>
              </a:rPr>
              <a:t>enterprise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9525" y="3292849"/>
            <a:ext cx="152400" cy="2151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2E11EC-AF23-51AB-7EE6-5D800F129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ounded Rectangle 7">
            <a:extLst>
              <a:ext uri="{FF2B5EF4-FFF2-40B4-BE49-F238E27FC236}">
                <a16:creationId xmlns:a16="http://schemas.microsoft.com/office/drawing/2014/main" id="{5F31F336-2436-E723-A75C-37B4DC47A80B}"/>
              </a:ext>
            </a:extLst>
          </p:cNvPr>
          <p:cNvSpPr/>
          <p:nvPr/>
        </p:nvSpPr>
        <p:spPr>
          <a:xfrm>
            <a:off x="358616" y="2705099"/>
            <a:ext cx="2733675" cy="2009775"/>
          </a:xfrm>
          <a:prstGeom prst="roundRect">
            <a:avLst>
              <a:gd name="adj" fmla="val 568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97A32B0-F71A-5DA0-F6C6-768B3C504136}"/>
              </a:ext>
            </a:extLst>
          </p:cNvPr>
          <p:cNvSpPr/>
          <p:nvPr/>
        </p:nvSpPr>
        <p:spPr>
          <a:xfrm>
            <a:off x="400050" y="6219825"/>
            <a:ext cx="11391900" cy="238125"/>
          </a:xfrm>
          <a:prstGeom prst="roundRect">
            <a:avLst/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A73C8C-5FC3-5864-10F7-6D9AEAB75144}"/>
              </a:ext>
            </a:extLst>
          </p:cNvPr>
          <p:cNvSpPr txBox="1"/>
          <p:nvPr/>
        </p:nvSpPr>
        <p:spPr>
          <a:xfrm>
            <a:off x="400050" y="6305550"/>
            <a:ext cx="349820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64748B"/>
                </a:solidFill>
                <a:latin typeface="ui-monospace"/>
              </a:rPr>
              <a:t>Platform Engineering Workshop // Actionable Roadmap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F008C7-5B96-8D4F-DBC1-218016ED2F83}"/>
              </a:ext>
            </a:extLst>
          </p:cNvPr>
          <p:cNvSpPr txBox="1"/>
          <p:nvPr/>
        </p:nvSpPr>
        <p:spPr>
          <a:xfrm>
            <a:off x="10900171" y="6305550"/>
            <a:ext cx="891778" cy="145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 dirty="0">
                <a:solidFill>
                  <a:srgbClr val="64748B"/>
                </a:solidFill>
                <a:latin typeface="ui-monospace"/>
              </a:rPr>
              <a:t>SLIDE </a:t>
            </a:r>
            <a:r>
              <a:rPr lang="en-US" sz="900" dirty="0">
                <a:solidFill>
                  <a:srgbClr val="64748B"/>
                </a:solidFill>
                <a:latin typeface="ui-monospace"/>
              </a:rPr>
              <a:t>11 </a:t>
            </a:r>
            <a:r>
              <a:rPr sz="900" b="0" i="0" u="none" dirty="0">
                <a:solidFill>
                  <a:srgbClr val="64748B"/>
                </a:solidFill>
                <a:latin typeface="ui-monospace"/>
              </a:rPr>
              <a:t>/ </a:t>
            </a:r>
            <a:r>
              <a:rPr lang="en-US" sz="900" dirty="0">
                <a:solidFill>
                  <a:srgbClr val="64748B"/>
                </a:solidFill>
                <a:latin typeface="ui-monospace"/>
              </a:rPr>
              <a:t>12</a:t>
            </a:r>
            <a:endParaRPr sz="900" b="0" i="0" u="none" dirty="0">
              <a:solidFill>
                <a:srgbClr val="64748B"/>
              </a:solidFill>
              <a:latin typeface="ui-monospace"/>
            </a:endParaRPr>
          </a:p>
        </p:txBody>
      </p:sp>
      <p:pic>
        <p:nvPicPr>
          <p:cNvPr id="34" name="Picture 33" descr="image.png">
            <a:extLst>
              <a:ext uri="{FF2B5EF4-FFF2-40B4-BE49-F238E27FC236}">
                <a16:creationId xmlns:a16="http://schemas.microsoft.com/office/drawing/2014/main" id="{46DAAA78-954E-18D3-5F42-EE16A1A59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541" y="4224337"/>
            <a:ext cx="2409825" cy="328612"/>
          </a:xfrm>
          <a:prstGeom prst="rect">
            <a:avLst/>
          </a:prstGeom>
        </p:spPr>
      </p:pic>
      <p:pic>
        <p:nvPicPr>
          <p:cNvPr id="36" name="Picture 35" descr="image.png">
            <a:extLst>
              <a:ext uri="{FF2B5EF4-FFF2-40B4-BE49-F238E27FC236}">
                <a16:creationId xmlns:a16="http://schemas.microsoft.com/office/drawing/2014/main" id="{B0E20F68-4D56-E404-C466-350F703C3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616" y="4224337"/>
            <a:ext cx="2409825" cy="328612"/>
          </a:xfrm>
          <a:prstGeom prst="rect">
            <a:avLst/>
          </a:prstGeom>
        </p:spPr>
      </p:pic>
      <p:pic>
        <p:nvPicPr>
          <p:cNvPr id="38" name="Picture 37" descr="image.png">
            <a:extLst>
              <a:ext uri="{FF2B5EF4-FFF2-40B4-BE49-F238E27FC236}">
                <a16:creationId xmlns:a16="http://schemas.microsoft.com/office/drawing/2014/main" id="{2C0F3917-3771-9406-092C-D881CDECD8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2691" y="4224337"/>
            <a:ext cx="2409825" cy="328612"/>
          </a:xfrm>
          <a:prstGeom prst="rect">
            <a:avLst/>
          </a:prstGeom>
        </p:spPr>
      </p:pic>
      <p:pic>
        <p:nvPicPr>
          <p:cNvPr id="40" name="Picture 39" descr="image.png">
            <a:extLst>
              <a:ext uri="{FF2B5EF4-FFF2-40B4-BE49-F238E27FC236}">
                <a16:creationId xmlns:a16="http://schemas.microsoft.com/office/drawing/2014/main" id="{5537FA8B-BBF6-BB04-76F0-97C9EB1CC5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8766" y="4224337"/>
            <a:ext cx="2409825" cy="328612"/>
          </a:xfrm>
          <a:prstGeom prst="rect">
            <a:avLst/>
          </a:prstGeom>
        </p:spPr>
      </p:pic>
      <p:sp>
        <p:nvSpPr>
          <p:cNvPr id="42" name="Rounded Rectangle 8">
            <a:extLst>
              <a:ext uri="{FF2B5EF4-FFF2-40B4-BE49-F238E27FC236}">
                <a16:creationId xmlns:a16="http://schemas.microsoft.com/office/drawing/2014/main" id="{F2EE97DA-982B-A9CD-0282-9D476DB40AE6}"/>
              </a:ext>
            </a:extLst>
          </p:cNvPr>
          <p:cNvSpPr/>
          <p:nvPr/>
        </p:nvSpPr>
        <p:spPr>
          <a:xfrm>
            <a:off x="3244691" y="2705099"/>
            <a:ext cx="2733675" cy="2009775"/>
          </a:xfrm>
          <a:prstGeom prst="roundRect">
            <a:avLst>
              <a:gd name="adj" fmla="val 568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9">
            <a:extLst>
              <a:ext uri="{FF2B5EF4-FFF2-40B4-BE49-F238E27FC236}">
                <a16:creationId xmlns:a16="http://schemas.microsoft.com/office/drawing/2014/main" id="{61AEE743-D94F-2155-346F-6A3B8E658540}"/>
              </a:ext>
            </a:extLst>
          </p:cNvPr>
          <p:cNvSpPr/>
          <p:nvPr/>
        </p:nvSpPr>
        <p:spPr>
          <a:xfrm>
            <a:off x="6130766" y="2705099"/>
            <a:ext cx="2733675" cy="2009775"/>
          </a:xfrm>
          <a:prstGeom prst="roundRect">
            <a:avLst>
              <a:gd name="adj" fmla="val 568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10">
            <a:extLst>
              <a:ext uri="{FF2B5EF4-FFF2-40B4-BE49-F238E27FC236}">
                <a16:creationId xmlns:a16="http://schemas.microsoft.com/office/drawing/2014/main" id="{531B3E5A-90FE-3A37-69DE-C9850D69AE15}"/>
              </a:ext>
            </a:extLst>
          </p:cNvPr>
          <p:cNvSpPr/>
          <p:nvPr/>
        </p:nvSpPr>
        <p:spPr>
          <a:xfrm>
            <a:off x="9016841" y="2705099"/>
            <a:ext cx="2733675" cy="2009775"/>
          </a:xfrm>
          <a:prstGeom prst="roundRect">
            <a:avLst>
              <a:gd name="adj" fmla="val 568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12">
            <a:extLst>
              <a:ext uri="{FF2B5EF4-FFF2-40B4-BE49-F238E27FC236}">
                <a16:creationId xmlns:a16="http://schemas.microsoft.com/office/drawing/2014/main" id="{AF3CC179-D269-73D9-CDD9-225A56A03508}"/>
              </a:ext>
            </a:extLst>
          </p:cNvPr>
          <p:cNvSpPr/>
          <p:nvPr/>
        </p:nvSpPr>
        <p:spPr>
          <a:xfrm>
            <a:off x="9101583" y="400050"/>
            <a:ext cx="1375618" cy="209550"/>
          </a:xfrm>
          <a:prstGeom prst="roundRect">
            <a:avLst>
              <a:gd name="adj" fmla="val 18181"/>
            </a:avLst>
          </a:prstGeom>
          <a:solidFill>
            <a:srgbClr val="F3E8FF"/>
          </a:solidFill>
          <a:ln w="9525">
            <a:solidFill>
              <a:srgbClr val="D8B4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13">
            <a:extLst>
              <a:ext uri="{FF2B5EF4-FFF2-40B4-BE49-F238E27FC236}">
                <a16:creationId xmlns:a16="http://schemas.microsoft.com/office/drawing/2014/main" id="{7468A6C8-FAA8-0141-36ED-18CB3E53EA62}"/>
              </a:ext>
            </a:extLst>
          </p:cNvPr>
          <p:cNvSpPr/>
          <p:nvPr/>
        </p:nvSpPr>
        <p:spPr>
          <a:xfrm>
            <a:off x="10553402" y="400050"/>
            <a:ext cx="1238547" cy="209550"/>
          </a:xfrm>
          <a:prstGeom prst="roundRect">
            <a:avLst>
              <a:gd name="adj" fmla="val 18181"/>
            </a:avLst>
          </a:prstGeom>
          <a:solidFill>
            <a:srgbClr val="D1FAE5"/>
          </a:solidFill>
          <a:ln w="9525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35CF8C3-8C4F-D8B4-AF49-A3BCF08A0F6D}"/>
              </a:ext>
            </a:extLst>
          </p:cNvPr>
          <p:cNvSpPr txBox="1"/>
          <p:nvPr/>
        </p:nvSpPr>
        <p:spPr>
          <a:xfrm>
            <a:off x="542925" y="1524000"/>
            <a:ext cx="111061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400" b="0" i="0" u="none" dirty="0">
                <a:solidFill>
                  <a:srgbClr val="334155"/>
                </a:solidFill>
                <a:latin typeface="ui-sans-serif"/>
              </a:rPr>
              <a:t>Nix and the </a:t>
            </a:r>
            <a:r>
              <a:rPr sz="1400" b="1" i="0" u="none" dirty="0">
                <a:solidFill>
                  <a:srgbClr val="0F172A"/>
                </a:solidFill>
                <a:latin typeface="ui-sans-serif"/>
              </a:rPr>
              <a:t>{</a:t>
            </a:r>
            <a:r>
              <a:rPr sz="1400" b="1" i="0" u="none" dirty="0" err="1">
                <a:solidFill>
                  <a:srgbClr val="0F172A"/>
                </a:solidFill>
                <a:latin typeface="ui-sans-serif"/>
              </a:rPr>
              <a:t>rix</a:t>
            </a:r>
            <a:r>
              <a:rPr sz="1400" b="1" i="0" u="none" dirty="0">
                <a:solidFill>
                  <a:srgbClr val="0F172A"/>
                </a:solidFill>
                <a:latin typeface="ui-sans-serif"/>
              </a:rPr>
              <a:t>}</a:t>
            </a:r>
            <a:r>
              <a:rPr sz="1400" b="0" i="0" u="none" dirty="0">
                <a:solidFill>
                  <a:srgbClr val="334155"/>
                </a:solidFill>
                <a:latin typeface="ui-sans-serif"/>
              </a:rPr>
              <a:t> R package deliver purely functional, declarative environment specifications — locking the R runtime, CRAN/Bioconductor package hierarchies, and underlying C/C++ system libraries into an immutable, bit-for-bit reproducible dependency graph.</a:t>
            </a:r>
          </a:p>
        </p:txBody>
      </p:sp>
      <p:sp>
        <p:nvSpPr>
          <p:cNvPr id="62" name="Rounded Rectangle 22">
            <a:extLst>
              <a:ext uri="{FF2B5EF4-FFF2-40B4-BE49-F238E27FC236}">
                <a16:creationId xmlns:a16="http://schemas.microsoft.com/office/drawing/2014/main" id="{6EBC5606-F46A-6865-D160-693C940E8E99}"/>
              </a:ext>
            </a:extLst>
          </p:cNvPr>
          <p:cNvSpPr/>
          <p:nvPr/>
        </p:nvSpPr>
        <p:spPr>
          <a:xfrm>
            <a:off x="9101583" y="400050"/>
            <a:ext cx="1375618" cy="209550"/>
          </a:xfrm>
          <a:prstGeom prst="roundRect">
            <a:avLst>
              <a:gd name="adj" fmla="val 18181"/>
            </a:avLst>
          </a:prstGeom>
          <a:solidFill>
            <a:srgbClr val="F3E8FF"/>
          </a:solidFill>
          <a:ln w="9525">
            <a:solidFill>
              <a:srgbClr val="D8B4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7CFFE6A-4BED-7537-6B40-E0F4CAD99D49}"/>
              </a:ext>
            </a:extLst>
          </p:cNvPr>
          <p:cNvSpPr txBox="1"/>
          <p:nvPr/>
        </p:nvSpPr>
        <p:spPr>
          <a:xfrm>
            <a:off x="9196833" y="419100"/>
            <a:ext cx="1185118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581C87"/>
                </a:solidFill>
                <a:latin typeface="ui-monospace"/>
              </a:rPr>
              <a:t>NIX_RIX_FRAMEWORK</a:t>
            </a:r>
          </a:p>
        </p:txBody>
      </p:sp>
      <p:sp>
        <p:nvSpPr>
          <p:cNvPr id="66" name="Rounded Rectangle 24">
            <a:extLst>
              <a:ext uri="{FF2B5EF4-FFF2-40B4-BE49-F238E27FC236}">
                <a16:creationId xmlns:a16="http://schemas.microsoft.com/office/drawing/2014/main" id="{F72E3B6C-E1E8-E163-5F08-EA2468D01039}"/>
              </a:ext>
            </a:extLst>
          </p:cNvPr>
          <p:cNvSpPr/>
          <p:nvPr/>
        </p:nvSpPr>
        <p:spPr>
          <a:xfrm>
            <a:off x="10553402" y="400050"/>
            <a:ext cx="1238547" cy="209550"/>
          </a:xfrm>
          <a:prstGeom prst="roundRect">
            <a:avLst>
              <a:gd name="adj" fmla="val 18181"/>
            </a:avLst>
          </a:prstGeom>
          <a:solidFill>
            <a:srgbClr val="D1FAE5"/>
          </a:solidFill>
          <a:ln w="9525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EF47FC3-6CAD-5929-F510-991F488E761D}"/>
              </a:ext>
            </a:extLst>
          </p:cNvPr>
          <p:cNvSpPr txBox="1"/>
          <p:nvPr/>
        </p:nvSpPr>
        <p:spPr>
          <a:xfrm>
            <a:off x="10648652" y="419100"/>
            <a:ext cx="1048047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064E3B"/>
                </a:solidFill>
                <a:latin typeface="ui-monospace"/>
              </a:rPr>
              <a:t>DECLARATIVE_GxP</a:t>
            </a:r>
          </a:p>
        </p:txBody>
      </p:sp>
      <p:pic>
        <p:nvPicPr>
          <p:cNvPr id="74" name="Picture 73" descr="image.png">
            <a:extLst>
              <a:ext uri="{FF2B5EF4-FFF2-40B4-BE49-F238E27FC236}">
                <a16:creationId xmlns:a16="http://schemas.microsoft.com/office/drawing/2014/main" id="{B70F3938-8F83-9FCA-22D6-E8AC38FCDC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541" y="2867024"/>
            <a:ext cx="304800" cy="304800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6750FA3A-9DA0-682C-9E5B-0E70DFE8F9BC}"/>
              </a:ext>
            </a:extLst>
          </p:cNvPr>
          <p:cNvSpPr txBox="1"/>
          <p:nvPr/>
        </p:nvSpPr>
        <p:spPr>
          <a:xfrm>
            <a:off x="520541" y="3286124"/>
            <a:ext cx="2530316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0F172A"/>
                </a:solidFill>
                <a:latin typeface="ui-sans-serif"/>
              </a:rPr>
              <a:t>Declarative Setup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15AA9F1-A4AF-C355-C4E3-3BC53C751D5E}"/>
              </a:ext>
            </a:extLst>
          </p:cNvPr>
          <p:cNvSpPr txBox="1"/>
          <p:nvPr/>
        </p:nvSpPr>
        <p:spPr>
          <a:xfrm>
            <a:off x="520541" y="3533774"/>
            <a:ext cx="2409825" cy="576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00" b="0" i="0" u="none">
                <a:solidFill>
                  <a:srgbClr val="475569"/>
                </a:solidFill>
                <a:latin typeface="ui-sans-serif"/>
              </a:rPr>
              <a:t>rix::rix() generates reproducible default.nix build definitions directly from R scripts.</a:t>
            </a:r>
          </a:p>
        </p:txBody>
      </p:sp>
      <p:pic>
        <p:nvPicPr>
          <p:cNvPr id="80" name="Picture 79" descr="image.png">
            <a:extLst>
              <a:ext uri="{FF2B5EF4-FFF2-40B4-BE49-F238E27FC236}">
                <a16:creationId xmlns:a16="http://schemas.microsoft.com/office/drawing/2014/main" id="{81A07152-6A73-71F9-FAF2-3C7E08E705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6616" y="2867024"/>
            <a:ext cx="304800" cy="304800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01BB656E-8406-EC4A-6087-06C7B12BA705}"/>
              </a:ext>
            </a:extLst>
          </p:cNvPr>
          <p:cNvSpPr txBox="1"/>
          <p:nvPr/>
        </p:nvSpPr>
        <p:spPr>
          <a:xfrm>
            <a:off x="3406616" y="3286124"/>
            <a:ext cx="2530316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0F172A"/>
                </a:solidFill>
                <a:latin typeface="ui-sans-serif"/>
              </a:rPr>
              <a:t>System Isolation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A9B8A4A-3E7E-1D6D-48D5-71117F030C9C}"/>
              </a:ext>
            </a:extLst>
          </p:cNvPr>
          <p:cNvSpPr txBox="1"/>
          <p:nvPr/>
        </p:nvSpPr>
        <p:spPr>
          <a:xfrm>
            <a:off x="3406616" y="3533774"/>
            <a:ext cx="2409825" cy="566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00" b="0" i="0" u="none">
                <a:solidFill>
                  <a:srgbClr val="475569"/>
                </a:solidFill>
                <a:latin typeface="ui-sans-serif"/>
              </a:rPr>
              <a:t>Captures compilers, GLIBC, and native dependencies in isolated /nix/store hashes with zero host drift.</a:t>
            </a:r>
          </a:p>
        </p:txBody>
      </p:sp>
      <p:pic>
        <p:nvPicPr>
          <p:cNvPr id="86" name="Picture 85" descr="image.png">
            <a:extLst>
              <a:ext uri="{FF2B5EF4-FFF2-40B4-BE49-F238E27FC236}">
                <a16:creationId xmlns:a16="http://schemas.microsoft.com/office/drawing/2014/main" id="{A5FF4A97-C820-C751-FB92-D00329640E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2691" y="2867024"/>
            <a:ext cx="304800" cy="304800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FE43B831-B282-BAF5-8192-9A4C5B023743}"/>
              </a:ext>
            </a:extLst>
          </p:cNvPr>
          <p:cNvSpPr txBox="1"/>
          <p:nvPr/>
        </p:nvSpPr>
        <p:spPr>
          <a:xfrm>
            <a:off x="6292691" y="3286124"/>
            <a:ext cx="2530316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0F172A"/>
                </a:solidFill>
                <a:latin typeface="ui-sans-serif"/>
              </a:rPr>
              <a:t>Audit Provenance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D64ADF0-9834-FD3B-06D1-F35522CB09D0}"/>
              </a:ext>
            </a:extLst>
          </p:cNvPr>
          <p:cNvSpPr txBox="1"/>
          <p:nvPr/>
        </p:nvSpPr>
        <p:spPr>
          <a:xfrm>
            <a:off x="6292691" y="3533774"/>
            <a:ext cx="2409825" cy="557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00" b="0" i="0" u="none">
                <a:solidFill>
                  <a:srgbClr val="475569"/>
                </a:solidFill>
                <a:latin typeface="ui-sans-serif"/>
              </a:rPr>
              <a:t>Pinned to exact nixpkgs Git commit hashes, satisfying FDA 21 CFR Part 11 requirements for historical rebuilds.</a:t>
            </a:r>
          </a:p>
        </p:txBody>
      </p:sp>
      <p:pic>
        <p:nvPicPr>
          <p:cNvPr id="92" name="Picture 91" descr="image.png">
            <a:extLst>
              <a:ext uri="{FF2B5EF4-FFF2-40B4-BE49-F238E27FC236}">
                <a16:creationId xmlns:a16="http://schemas.microsoft.com/office/drawing/2014/main" id="{3A81A211-621E-0805-BF21-8E919329B3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78766" y="2867024"/>
            <a:ext cx="304800" cy="304800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F72598A4-E6C0-9C4F-2261-2C046D1C6508}"/>
              </a:ext>
            </a:extLst>
          </p:cNvPr>
          <p:cNvSpPr txBox="1"/>
          <p:nvPr/>
        </p:nvSpPr>
        <p:spPr>
          <a:xfrm>
            <a:off x="9178766" y="3286124"/>
            <a:ext cx="2530316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0F172A"/>
                </a:solidFill>
                <a:latin typeface="ui-sans-serif"/>
              </a:rPr>
              <a:t>CI/CD Portability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DBC6E68-A59C-671C-848B-70743C28CE06}"/>
              </a:ext>
            </a:extLst>
          </p:cNvPr>
          <p:cNvSpPr txBox="1"/>
          <p:nvPr/>
        </p:nvSpPr>
        <p:spPr>
          <a:xfrm>
            <a:off x="9178766" y="3533774"/>
            <a:ext cx="2409825" cy="557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00" b="0" i="0" u="none">
                <a:solidFill>
                  <a:srgbClr val="475569"/>
                </a:solidFill>
                <a:latin typeface="ui-sans-serif"/>
              </a:rPr>
              <a:t>Exports directly to OCI/Docker container images or developer shells across Linux, macOS, and cloud HPC grids.</a:t>
            </a:r>
          </a:p>
        </p:txBody>
      </p:sp>
      <p:pic>
        <p:nvPicPr>
          <p:cNvPr id="98" name="Picture 97" descr="image.png">
            <a:extLst>
              <a:ext uri="{FF2B5EF4-FFF2-40B4-BE49-F238E27FC236}">
                <a16:creationId xmlns:a16="http://schemas.microsoft.com/office/drawing/2014/main" id="{B90EF0B6-3335-6E14-02D6-D8D7D5AFEF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553" y="2952749"/>
            <a:ext cx="104775" cy="133350"/>
          </a:xfrm>
          <a:prstGeom prst="rect">
            <a:avLst/>
          </a:prstGeom>
        </p:spPr>
      </p:pic>
      <p:pic>
        <p:nvPicPr>
          <p:cNvPr id="100" name="Picture 99" descr="image.png">
            <a:extLst>
              <a:ext uri="{FF2B5EF4-FFF2-40B4-BE49-F238E27FC236}">
                <a16:creationId xmlns:a16="http://schemas.microsoft.com/office/drawing/2014/main" id="{798D1A64-2E02-2821-7AF1-63F184D885F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01866" y="2952749"/>
            <a:ext cx="114300" cy="133350"/>
          </a:xfrm>
          <a:prstGeom prst="rect">
            <a:avLst/>
          </a:prstGeom>
        </p:spPr>
      </p:pic>
      <p:pic>
        <p:nvPicPr>
          <p:cNvPr id="102" name="Picture 101" descr="image.png">
            <a:extLst>
              <a:ext uri="{FF2B5EF4-FFF2-40B4-BE49-F238E27FC236}">
                <a16:creationId xmlns:a16="http://schemas.microsoft.com/office/drawing/2014/main" id="{96C06AEF-9189-A602-7932-085581C3E3F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78416" y="2952749"/>
            <a:ext cx="133350" cy="133350"/>
          </a:xfrm>
          <a:prstGeom prst="rect">
            <a:avLst/>
          </a:prstGeom>
        </p:spPr>
      </p:pic>
      <p:pic>
        <p:nvPicPr>
          <p:cNvPr id="104" name="Picture 103" descr="image.png">
            <a:extLst>
              <a:ext uri="{FF2B5EF4-FFF2-40B4-BE49-F238E27FC236}">
                <a16:creationId xmlns:a16="http://schemas.microsoft.com/office/drawing/2014/main" id="{13FB04A8-8F2C-7F59-E621-884529528B9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45441" y="2952749"/>
            <a:ext cx="171450" cy="133350"/>
          </a:xfrm>
          <a:prstGeom prst="rect">
            <a:avLst/>
          </a:prstGeom>
        </p:spPr>
      </p:pic>
      <p:sp>
        <p:nvSpPr>
          <p:cNvPr id="106" name="TextBox 105">
            <a:extLst>
              <a:ext uri="{FF2B5EF4-FFF2-40B4-BE49-F238E27FC236}">
                <a16:creationId xmlns:a16="http://schemas.microsoft.com/office/drawing/2014/main" id="{1F671D21-BF0C-5160-A1C1-943156E85A5F}"/>
              </a:ext>
            </a:extLst>
          </p:cNvPr>
          <p:cNvSpPr txBox="1"/>
          <p:nvPr/>
        </p:nvSpPr>
        <p:spPr>
          <a:xfrm>
            <a:off x="400050" y="1000125"/>
            <a:ext cx="117919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 dirty="0">
                <a:solidFill>
                  <a:srgbClr val="0F172A"/>
                </a:solidFill>
                <a:latin typeface="ui-sans-serif"/>
              </a:rPr>
              <a:t>Declarative R Environment Validation with Nix &amp; {</a:t>
            </a:r>
            <a:r>
              <a:rPr sz="2250" b="1" i="0" u="none" dirty="0" err="1">
                <a:solidFill>
                  <a:srgbClr val="0F172A"/>
                </a:solidFill>
                <a:latin typeface="ui-sans-serif"/>
              </a:rPr>
              <a:t>rix</a:t>
            </a:r>
            <a:r>
              <a:rPr sz="2250" b="1" i="0" u="none" dirty="0">
                <a:solidFill>
                  <a:srgbClr val="0F172A"/>
                </a:solidFill>
                <a:latin typeface="ui-sans-serif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74617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5553075"/>
            <a:ext cx="11391900" cy="666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01" y="3655218"/>
            <a:ext cx="3121547" cy="2428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0653" y="3655218"/>
            <a:ext cx="3130543" cy="2428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5976" y="3655218"/>
            <a:ext cx="3121547" cy="24288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00050" y="6219825"/>
            <a:ext cx="11391900" cy="238125"/>
          </a:xfrm>
          <a:prstGeom prst="roundRect">
            <a:avLst/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279112" y="409575"/>
            <a:ext cx="1512837" cy="247650"/>
          </a:xfrm>
          <a:prstGeom prst="roundRect">
            <a:avLst>
              <a:gd name="adj" fmla="val 15384"/>
            </a:avLst>
          </a:prstGeom>
          <a:solidFill>
            <a:srgbClr val="D1FAE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00050" y="2245518"/>
            <a:ext cx="3670250" cy="1852612"/>
          </a:xfrm>
          <a:prstGeom prst="roundRect">
            <a:avLst>
              <a:gd name="adj" fmla="val 61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4260800" y="2245518"/>
            <a:ext cx="3670250" cy="1852612"/>
          </a:xfrm>
          <a:prstGeom prst="roundRect">
            <a:avLst>
              <a:gd name="adj" fmla="val 61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121550" y="2245518"/>
            <a:ext cx="3670399" cy="1852612"/>
          </a:xfrm>
          <a:prstGeom prst="roundRect">
            <a:avLst>
              <a:gd name="adj" fmla="val 61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279112" y="409575"/>
            <a:ext cx="1512837" cy="247650"/>
          </a:xfrm>
          <a:prstGeom prst="roundRect">
            <a:avLst>
              <a:gd name="adj" fmla="val 15384"/>
            </a:avLst>
          </a:prstGeom>
          <a:solidFill>
            <a:srgbClr val="D1FAE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374362" y="447675"/>
            <a:ext cx="1322337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065F46"/>
                </a:solidFill>
                <a:latin typeface="ui-monospace"/>
              </a:rPr>
              <a:t>IMPLEMENTATION_PATH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1975" y="5715000"/>
            <a:ext cx="110680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900" b="1" i="0" u="none">
                <a:solidFill>
                  <a:srgbClr val="064E3B"/>
                </a:solidFill>
                <a:latin typeface="ui-monospace"/>
              </a:rPr>
              <a:t>ENGINEERING ACTION PRINCIPLE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1975" y="5905500"/>
            <a:ext cx="110680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900" b="0" i="0" u="none">
                <a:solidFill>
                  <a:srgbClr val="065F46"/>
                </a:solidFill>
                <a:latin typeface="ui-sans-serif"/>
              </a:rPr>
              <a:t>Start small, capture evidence from day one, and automate everything you would otherwise repeat by hand.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0050" y="6305550"/>
            <a:ext cx="349820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64748B"/>
                </a:solidFill>
                <a:latin typeface="ui-monospace"/>
              </a:rPr>
              <a:t>Platform Engineering Workshop // Actionable Roadmap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00171" y="6305550"/>
            <a:ext cx="891778" cy="145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 dirty="0">
                <a:solidFill>
                  <a:srgbClr val="64748B"/>
                </a:solidFill>
                <a:latin typeface="ui-monospace"/>
              </a:rPr>
              <a:t>SLIDE </a:t>
            </a:r>
            <a:r>
              <a:rPr lang="en-US" sz="900" dirty="0">
                <a:solidFill>
                  <a:srgbClr val="64748B"/>
                </a:solidFill>
                <a:latin typeface="ui-monospace"/>
              </a:rPr>
              <a:t>12 </a:t>
            </a:r>
            <a:r>
              <a:rPr sz="900" b="0" i="0" u="none" dirty="0">
                <a:solidFill>
                  <a:srgbClr val="64748B"/>
                </a:solidFill>
                <a:latin typeface="ui-monospace"/>
              </a:rPr>
              <a:t>/ </a:t>
            </a:r>
            <a:r>
              <a:rPr lang="en-US" sz="900" dirty="0">
                <a:solidFill>
                  <a:srgbClr val="64748B"/>
                </a:solidFill>
                <a:latin typeface="ui-monospace"/>
              </a:rPr>
              <a:t>12</a:t>
            </a:r>
            <a:endParaRPr sz="900" b="0" i="0" u="none" dirty="0">
              <a:solidFill>
                <a:srgbClr val="64748B"/>
              </a:solidFill>
              <a:latin typeface="ui-monospace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03969" y="400050"/>
            <a:ext cx="1674271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1" i="0" u="none">
                <a:solidFill>
                  <a:srgbClr val="0F172A"/>
                </a:solidFill>
                <a:latin typeface="ui-sans-serif"/>
              </a:rPr>
              <a:t>Where to Start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075" y="2445543"/>
            <a:ext cx="304800" cy="304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0075" y="2864643"/>
            <a:ext cx="343371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F172A"/>
                </a:solidFill>
                <a:latin typeface="ui-sans-serif"/>
              </a:rPr>
              <a:t>Use the Credits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0075" y="3169443"/>
            <a:ext cx="3270200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400" b="0" i="0" u="none" dirty="0">
                <a:solidFill>
                  <a:srgbClr val="475569"/>
                </a:solidFill>
                <a:latin typeface="ui-sans-serif"/>
              </a:rPr>
              <a:t>Big cloud providers offer credits that cover early experimentation.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0825" y="2445543"/>
            <a:ext cx="304800" cy="304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460825" y="2864643"/>
            <a:ext cx="343371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F172A"/>
                </a:solidFill>
                <a:latin typeface="ui-sans-serif"/>
              </a:rPr>
              <a:t>Run a Free POC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0825" y="3169443"/>
            <a:ext cx="3270200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400" b="0" i="0" u="none" dirty="0">
                <a:solidFill>
                  <a:srgbClr val="475569"/>
                </a:solidFill>
                <a:latin typeface="ui-sans-serif"/>
              </a:rPr>
              <a:t>Prove the container + </a:t>
            </a:r>
            <a:r>
              <a:rPr sz="1400" b="0" i="0" u="none" dirty="0" err="1">
                <a:solidFill>
                  <a:srgbClr val="475569"/>
                </a:solidFill>
                <a:latin typeface="ui-sans-serif"/>
              </a:rPr>
              <a:t>renv</a:t>
            </a:r>
            <a:r>
              <a:rPr sz="1400" b="0" i="0" u="none" dirty="0">
                <a:solidFill>
                  <a:srgbClr val="475569"/>
                </a:solidFill>
                <a:latin typeface="ui-sans-serif"/>
              </a:rPr>
              <a:t> + snapshot pattern at no cost.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575" y="2445543"/>
            <a:ext cx="304800" cy="304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321575" y="2864643"/>
            <a:ext cx="343386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F172A"/>
                </a:solidFill>
                <a:latin typeface="ui-sans-serif"/>
              </a:rPr>
              <a:t>Qualify, Then Validate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575" y="3169443"/>
            <a:ext cx="3270349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400" b="0" i="0" u="none" dirty="0">
                <a:solidFill>
                  <a:srgbClr val="475569"/>
                </a:solidFill>
                <a:latin typeface="ui-sans-serif"/>
              </a:rPr>
              <a:t>IT qualifies the infrastructure; the platform is validated together.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465" y="2531268"/>
            <a:ext cx="160020" cy="1333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6075" y="2532001"/>
            <a:ext cx="114300" cy="131884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9520" y="2531268"/>
            <a:ext cx="168910" cy="1333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711</TotalTime>
  <Words>1284</Words>
  <Application>Microsoft Office PowerPoint</Application>
  <PresentationFormat>Widescreen</PresentationFormat>
  <Paragraphs>196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ui-monospace</vt:lpstr>
      <vt:lpstr>ui-sans-serif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Johnson, Casey</cp:lastModifiedBy>
  <cp:revision>7</cp:revision>
  <dcterms:created xsi:type="dcterms:W3CDTF">2013-01-27T09:14:16Z</dcterms:created>
  <dcterms:modified xsi:type="dcterms:W3CDTF">2026-09-13T05:38:44Z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8f72598-90ab-4748-9618-88402b5e95d2_Enabled">
    <vt:lpwstr>true</vt:lpwstr>
  </property>
  <property fmtid="{D5CDD505-2E9C-101B-9397-08002B2CF9AE}" pid="3" name="MSIP_Label_68f72598-90ab-4748-9618-88402b5e95d2_SetDate">
    <vt:lpwstr>2026-09-10T13:20:27Z</vt:lpwstr>
  </property>
  <property fmtid="{D5CDD505-2E9C-101B-9397-08002B2CF9AE}" pid="4" name="MSIP_Label_68f72598-90ab-4748-9618-88402b5e95d2_Method">
    <vt:lpwstr>Privileged</vt:lpwstr>
  </property>
  <property fmtid="{D5CDD505-2E9C-101B-9397-08002B2CF9AE}" pid="5" name="MSIP_Label_68f72598-90ab-4748-9618-88402b5e95d2_Name">
    <vt:lpwstr>68f72598-90ab-4748-9618-88402b5e95d2</vt:lpwstr>
  </property>
  <property fmtid="{D5CDD505-2E9C-101B-9397-08002B2CF9AE}" pid="6" name="MSIP_Label_68f72598-90ab-4748-9618-88402b5e95d2_SiteId">
    <vt:lpwstr>7a916015-20ae-4ad1-9170-eefd915e9272</vt:lpwstr>
  </property>
  <property fmtid="{D5CDD505-2E9C-101B-9397-08002B2CF9AE}" pid="7" name="MSIP_Label_68f72598-90ab-4748-9618-88402b5e95d2_ActionId">
    <vt:lpwstr>c77da20d-cbc5-4a59-ac79-f3fd19f2df70</vt:lpwstr>
  </property>
  <property fmtid="{D5CDD505-2E9C-101B-9397-08002B2CF9AE}" pid="8" name="MSIP_Label_68f72598-90ab-4748-9618-88402b5e95d2_ContentBits">
    <vt:lpwstr>0</vt:lpwstr>
  </property>
  <property fmtid="{D5CDD505-2E9C-101B-9397-08002B2CF9AE}" pid="9" name="MSIP_Label_68f72598-90ab-4748-9618-88402b5e95d2_Tag">
    <vt:lpwstr>10, 0, 1, 1</vt:lpwstr>
  </property>
</Properties>
</file>